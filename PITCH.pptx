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CPG companies leave money on the table because demand is fragmented and substitution is hard to prove. The same ingredient is often bought by multiple companies and products with no shared visibility — that blocks volume leverage and creates hidden single-source risk. And consolidation is only useful if the substitute still meets quality and compliance requirements. Otherwise you've just traded a cost problem for a compliance incident. Most tools stop at cost. Procurement teams need a recommendation they can actually defend.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Agnes profiles every ingredient across the network. It finds variant and functional substitutes. It scores consolidation opportunities across five weighted dimensions — leverage, evidence confidence, compliance fit, diversification, switching feasibility — and produces recommendations with evidence trails and caveats. Four surfaces: Chat, Explorer, Insights, Cube. Same brain. Run against the real dataset: 61 companies, 357 ingredients, 40 suppliers, 8,127 procurement orders, $1.52 billion in spend. On that dataset Agnes identified 125 consolidation opportunities, 117 substitution groups, and 89 risk items.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recommendation is tied to actual supplier, spend, and benchmark data. The UI exposes evidence, confidence, and caveats. The system includes an anti-monopoly guard: when full consolidation would leave the network with ≤ 2 suppliers for an ingredient, the grade is automatically downgraded. On our dataset that fires on 124 of 125 opportunities. Three proof points. Beta Carotene — safe to consolidate, four suppliers, plenty of backup. Microcrystalline Cellulose — downgraded; Agnes recommends partial consolidation plus a qualified backup. Maltodextrin — single-source from Ingredion; Agnes recommends qualifying a second supplier. This is exactly what procurement teams need: not just answers, but justification.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320040"/>
          </a:xfrm>
          <a:prstGeom prst="rect">
            <a:avLst/>
          </a:prstGeom>
          <a:noFill/>
        </p:spPr>
        <p:txBody>
          <a:bodyPr wrap="square" lIns="0" rIns="0" tIns="0" bIns="0">
            <a:spAutoFit/>
          </a:bodyPr>
          <a:lstStyle/>
          <a:p>
            <a:pPr algn="l"/>
            <a:r>
              <a:rPr sz="1100" b="1">
                <a:solidFill>
                  <a:srgbClr val="F59E0B"/>
                </a:solidFill>
                <a:latin typeface="Helvetica Neue"/>
              </a:rPr>
              <a:t>PROBLEM</a:t>
            </a:r>
          </a:p>
        </p:txBody>
      </p:sp>
      <p:sp>
        <p:nvSpPr>
          <p:cNvPr id="4" name="TextBox 3"/>
          <p:cNvSpPr txBox="1"/>
          <p:nvPr/>
        </p:nvSpPr>
        <p:spPr>
          <a:xfrm>
            <a:off x="548640" y="777240"/>
            <a:ext cx="10972800" cy="1097280"/>
          </a:xfrm>
          <a:prstGeom prst="rect">
            <a:avLst/>
          </a:prstGeom>
          <a:noFill/>
        </p:spPr>
        <p:txBody>
          <a:bodyPr wrap="square" lIns="0" rIns="0" tIns="0" bIns="0">
            <a:spAutoFit/>
          </a:bodyPr>
          <a:lstStyle/>
          <a:p>
            <a:pPr algn="l">
              <a:lnSpc>
                <a:spcPct val="115000"/>
              </a:lnSpc>
            </a:pPr>
            <a:r>
              <a:rPr sz="2600" b="1">
                <a:solidFill>
                  <a:srgbClr val="E9F4FF"/>
                </a:solidFill>
                <a:latin typeface="Helvetica Neue"/>
              </a:rPr>
              <a:t>CPG companies leave money on the table because
demand is fragmented and substitution is hard to prove.</a:t>
            </a:r>
          </a:p>
        </p:txBody>
      </p:sp>
      <p:sp>
        <p:nvSpPr>
          <p:cNvPr id="5" name="Rectangle 4"/>
          <p:cNvSpPr/>
          <p:nvPr/>
        </p:nvSpPr>
        <p:spPr>
          <a:xfrm>
            <a:off x="548640" y="2148840"/>
            <a:ext cx="457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2606040"/>
            <a:ext cx="3703320" cy="2788920"/>
          </a:xfrm>
          <a:prstGeom prst="roundRect">
            <a:avLst>
              <a:gd name="adj" fmla="val 6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606040"/>
            <a:ext cx="82296" cy="278892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880360"/>
            <a:ext cx="3246120" cy="365760"/>
          </a:xfrm>
          <a:prstGeom prst="rect">
            <a:avLst/>
          </a:prstGeom>
          <a:noFill/>
        </p:spPr>
        <p:txBody>
          <a:bodyPr wrap="square" lIns="0" rIns="0" tIns="0" bIns="0">
            <a:spAutoFit/>
          </a:bodyPr>
          <a:lstStyle/>
          <a:p>
            <a:pPr algn="l"/>
            <a:r>
              <a:rPr sz="1400" b="1">
                <a:solidFill>
                  <a:srgbClr val="00D4AA"/>
                </a:solidFill>
                <a:latin typeface="Menlo"/>
              </a:rPr>
              <a:t>01</a:t>
            </a:r>
          </a:p>
        </p:txBody>
      </p:sp>
      <p:sp>
        <p:nvSpPr>
          <p:cNvPr id="9" name="TextBox 8"/>
          <p:cNvSpPr txBox="1"/>
          <p:nvPr/>
        </p:nvSpPr>
        <p:spPr>
          <a:xfrm>
            <a:off x="868680" y="3291840"/>
            <a:ext cx="3246120" cy="640080"/>
          </a:xfrm>
          <a:prstGeom prst="rect">
            <a:avLst/>
          </a:prstGeom>
          <a:noFill/>
        </p:spPr>
        <p:txBody>
          <a:bodyPr wrap="square" lIns="0" rIns="0" tIns="0" bIns="0">
            <a:spAutoFit/>
          </a:bodyPr>
          <a:lstStyle/>
          <a:p>
            <a:pPr algn="l">
              <a:lnSpc>
                <a:spcPct val="110000"/>
              </a:lnSpc>
            </a:pPr>
            <a:r>
              <a:rPr sz="2200" b="1">
                <a:solidFill>
                  <a:srgbClr val="E9F4FF"/>
                </a:solidFill>
                <a:latin typeface="Helvetica Neue"/>
              </a:rPr>
              <a:t>Fragmented demand</a:t>
            </a:r>
          </a:p>
        </p:txBody>
      </p:sp>
      <p:sp>
        <p:nvSpPr>
          <p:cNvPr id="10" name="TextBox 9"/>
          <p:cNvSpPr txBox="1"/>
          <p:nvPr/>
        </p:nvSpPr>
        <p:spPr>
          <a:xfrm>
            <a:off x="868680" y="4023360"/>
            <a:ext cx="3200400" cy="1280160"/>
          </a:xfrm>
          <a:prstGeom prst="rect">
            <a:avLst/>
          </a:prstGeom>
          <a:noFill/>
        </p:spPr>
        <p:txBody>
          <a:bodyPr wrap="square" lIns="0" rIns="0" tIns="0" bIns="0">
            <a:spAutoFit/>
          </a:bodyPr>
          <a:lstStyle/>
          <a:p>
            <a:pPr algn="l">
              <a:lnSpc>
                <a:spcPct val="140000"/>
              </a:lnSpc>
            </a:pPr>
            <a:r>
              <a:rPr sz="1300" b="0">
                <a:solidFill>
                  <a:srgbClr val="8BA3C7"/>
                </a:solidFill>
                <a:latin typeface="Helvetica Neue"/>
              </a:rPr>
              <a:t>The same ingredient is bought by many companies and products with no shared visibility. No volume leverage.</a:t>
            </a:r>
          </a:p>
        </p:txBody>
      </p:sp>
      <p:sp>
        <p:nvSpPr>
          <p:cNvPr id="11" name="Rounded Rectangle 10"/>
          <p:cNvSpPr/>
          <p:nvPr/>
        </p:nvSpPr>
        <p:spPr>
          <a:xfrm>
            <a:off x="4389120" y="2606040"/>
            <a:ext cx="3703320" cy="2788920"/>
          </a:xfrm>
          <a:prstGeom prst="roundRect">
            <a:avLst>
              <a:gd name="adj" fmla="val 6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2606040"/>
            <a:ext cx="82296" cy="2788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2880360"/>
            <a:ext cx="3246120" cy="365760"/>
          </a:xfrm>
          <a:prstGeom prst="rect">
            <a:avLst/>
          </a:prstGeom>
          <a:noFill/>
        </p:spPr>
        <p:txBody>
          <a:bodyPr wrap="square" lIns="0" rIns="0" tIns="0" bIns="0">
            <a:spAutoFit/>
          </a:bodyPr>
          <a:lstStyle/>
          <a:p>
            <a:pPr algn="l"/>
            <a:r>
              <a:rPr sz="1400" b="1">
                <a:solidFill>
                  <a:srgbClr val="F59E0B"/>
                </a:solidFill>
                <a:latin typeface="Menlo"/>
              </a:rPr>
              <a:t>02</a:t>
            </a:r>
          </a:p>
        </p:txBody>
      </p:sp>
      <p:sp>
        <p:nvSpPr>
          <p:cNvPr id="14" name="TextBox 13"/>
          <p:cNvSpPr txBox="1"/>
          <p:nvPr/>
        </p:nvSpPr>
        <p:spPr>
          <a:xfrm>
            <a:off x="4709160" y="3291840"/>
            <a:ext cx="3246120" cy="640080"/>
          </a:xfrm>
          <a:prstGeom prst="rect">
            <a:avLst/>
          </a:prstGeom>
          <a:noFill/>
        </p:spPr>
        <p:txBody>
          <a:bodyPr wrap="square" lIns="0" rIns="0" tIns="0" bIns="0">
            <a:spAutoFit/>
          </a:bodyPr>
          <a:lstStyle/>
          <a:p>
            <a:pPr algn="l">
              <a:lnSpc>
                <a:spcPct val="110000"/>
              </a:lnSpc>
            </a:pPr>
            <a:r>
              <a:rPr sz="2200" b="1">
                <a:solidFill>
                  <a:srgbClr val="E9F4FF"/>
                </a:solidFill>
                <a:latin typeface="Helvetica Neue"/>
              </a:rPr>
              <a:t>Hidden single-source risk</a:t>
            </a:r>
          </a:p>
        </p:txBody>
      </p:sp>
      <p:sp>
        <p:nvSpPr>
          <p:cNvPr id="15" name="TextBox 14"/>
          <p:cNvSpPr txBox="1"/>
          <p:nvPr/>
        </p:nvSpPr>
        <p:spPr>
          <a:xfrm>
            <a:off x="4709160" y="4023360"/>
            <a:ext cx="3200400" cy="1280160"/>
          </a:xfrm>
          <a:prstGeom prst="rect">
            <a:avLst/>
          </a:prstGeom>
          <a:noFill/>
        </p:spPr>
        <p:txBody>
          <a:bodyPr wrap="square" lIns="0" rIns="0" tIns="0" bIns="0">
            <a:spAutoFit/>
          </a:bodyPr>
          <a:lstStyle/>
          <a:p>
            <a:pPr algn="l">
              <a:lnSpc>
                <a:spcPct val="140000"/>
              </a:lnSpc>
            </a:pPr>
            <a:r>
              <a:rPr sz="1300" b="0">
                <a:solidFill>
                  <a:srgbClr val="8BA3C7"/>
                </a:solidFill>
                <a:latin typeface="Helvetica Neue"/>
              </a:rPr>
              <a:t>Consolidation can look attractive, but if only 1–2 suppliers remain, a single disruption takes out the line.</a:t>
            </a:r>
          </a:p>
        </p:txBody>
      </p:sp>
      <p:sp>
        <p:nvSpPr>
          <p:cNvPr id="16" name="Rounded Rectangle 15"/>
          <p:cNvSpPr/>
          <p:nvPr/>
        </p:nvSpPr>
        <p:spPr>
          <a:xfrm>
            <a:off x="8229600" y="2606040"/>
            <a:ext cx="3703320" cy="2788920"/>
          </a:xfrm>
          <a:prstGeom prst="roundRect">
            <a:avLst>
              <a:gd name="adj" fmla="val 6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0" y="2606040"/>
            <a:ext cx="82296" cy="2788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49640" y="2880360"/>
            <a:ext cx="3246120" cy="365760"/>
          </a:xfrm>
          <a:prstGeom prst="rect">
            <a:avLst/>
          </a:prstGeom>
          <a:noFill/>
        </p:spPr>
        <p:txBody>
          <a:bodyPr wrap="square" lIns="0" rIns="0" tIns="0" bIns="0">
            <a:spAutoFit/>
          </a:bodyPr>
          <a:lstStyle/>
          <a:p>
            <a:pPr algn="l"/>
            <a:r>
              <a:rPr sz="1400" b="1">
                <a:solidFill>
                  <a:srgbClr val="EF4444"/>
                </a:solidFill>
                <a:latin typeface="Menlo"/>
              </a:rPr>
              <a:t>03</a:t>
            </a:r>
          </a:p>
        </p:txBody>
      </p:sp>
      <p:sp>
        <p:nvSpPr>
          <p:cNvPr id="19" name="TextBox 18"/>
          <p:cNvSpPr txBox="1"/>
          <p:nvPr/>
        </p:nvSpPr>
        <p:spPr>
          <a:xfrm>
            <a:off x="8549640" y="3291840"/>
            <a:ext cx="3246120" cy="640080"/>
          </a:xfrm>
          <a:prstGeom prst="rect">
            <a:avLst/>
          </a:prstGeom>
          <a:noFill/>
        </p:spPr>
        <p:txBody>
          <a:bodyPr wrap="square" lIns="0" rIns="0" tIns="0" bIns="0">
            <a:spAutoFit/>
          </a:bodyPr>
          <a:lstStyle/>
          <a:p>
            <a:pPr algn="l">
              <a:lnSpc>
                <a:spcPct val="110000"/>
              </a:lnSpc>
            </a:pPr>
            <a:r>
              <a:rPr sz="2200" b="1">
                <a:solidFill>
                  <a:srgbClr val="E9F4FF"/>
                </a:solidFill>
                <a:latin typeface="Helvetica Neue"/>
              </a:rPr>
              <a:t>Compliance is the blocker</a:t>
            </a:r>
          </a:p>
        </p:txBody>
      </p:sp>
      <p:sp>
        <p:nvSpPr>
          <p:cNvPr id="20" name="TextBox 19"/>
          <p:cNvSpPr txBox="1"/>
          <p:nvPr/>
        </p:nvSpPr>
        <p:spPr>
          <a:xfrm>
            <a:off x="8549640" y="4023360"/>
            <a:ext cx="3200400" cy="1280160"/>
          </a:xfrm>
          <a:prstGeom prst="rect">
            <a:avLst/>
          </a:prstGeom>
          <a:noFill/>
        </p:spPr>
        <p:txBody>
          <a:bodyPr wrap="square" lIns="0" rIns="0" tIns="0" bIns="0">
            <a:spAutoFit/>
          </a:bodyPr>
          <a:lstStyle/>
          <a:p>
            <a:pPr algn="l">
              <a:lnSpc>
                <a:spcPct val="140000"/>
              </a:lnSpc>
            </a:pPr>
            <a:r>
              <a:rPr sz="1300" b="0">
                <a:solidFill>
                  <a:srgbClr val="8BA3C7"/>
                </a:solidFill>
                <a:latin typeface="Helvetica Neue"/>
              </a:rPr>
              <a:t>Cheaper alternatives only count if they are functionally valid AND meet quality / regulatory requirements.</a:t>
            </a:r>
          </a:p>
        </p:txBody>
      </p:sp>
      <p:sp>
        <p:nvSpPr>
          <p:cNvPr id="21" name="TextBox 20"/>
          <p:cNvSpPr txBox="1"/>
          <p:nvPr/>
        </p:nvSpPr>
        <p:spPr>
          <a:xfrm>
            <a:off x="548640" y="5760720"/>
            <a:ext cx="11155680" cy="457200"/>
          </a:xfrm>
          <a:prstGeom prst="rect">
            <a:avLst/>
          </a:prstGeom>
          <a:noFill/>
        </p:spPr>
        <p:txBody>
          <a:bodyPr wrap="square" lIns="0" rIns="0" tIns="0" bIns="0">
            <a:spAutoFit/>
          </a:bodyPr>
          <a:lstStyle/>
          <a:p>
            <a:pPr algn="l"/>
            <a:r>
              <a:rPr sz="1500" b="1">
                <a:solidFill>
                  <a:srgbClr val="F59E0B"/>
                </a:solidFill>
                <a:latin typeface="Helvetica Neue"/>
              </a:rPr>
              <a:t>Most tools stop at cost. Procurement teams need a recommendation they can defend to a CFO.</a:t>
            </a:r>
          </a:p>
        </p:txBody>
      </p:sp>
      <p:sp>
        <p:nvSpPr>
          <p:cNvPr id="22" name="TextBox 21"/>
          <p:cNvSpPr txBox="1"/>
          <p:nvPr/>
        </p:nvSpPr>
        <p:spPr>
          <a:xfrm>
            <a:off x="548640" y="6446520"/>
            <a:ext cx="9144000" cy="274320"/>
          </a:xfrm>
          <a:prstGeom prst="rect">
            <a:avLst/>
          </a:prstGeom>
          <a:noFill/>
        </p:spPr>
        <p:txBody>
          <a:bodyPr wrap="square" lIns="0" rIns="0" tIns="0" bIns="0">
            <a:spAutoFit/>
          </a:bodyPr>
          <a:lstStyle/>
          <a:p>
            <a:pPr algn="l"/>
            <a:r>
              <a:rPr sz="900" b="0">
                <a:solidFill>
                  <a:srgbClr val="5A749A"/>
                </a:solidFill>
                <a:latin typeface="Helvetica Neue"/>
              </a:rPr>
              <a:t>AgnesTheSecond  ·  TUM.ai × Spherecast Makeathon 2026  ·  Trustworthy sourcing, not just cheaper sourcing.</a:t>
            </a:r>
          </a:p>
        </p:txBody>
      </p:sp>
      <p:sp>
        <p:nvSpPr>
          <p:cNvPr id="23" name="TextBox 22"/>
          <p:cNvSpPr txBox="1"/>
          <p:nvPr/>
        </p:nvSpPr>
        <p:spPr>
          <a:xfrm>
            <a:off x="10058400" y="6446520"/>
            <a:ext cx="1828800" cy="274320"/>
          </a:xfrm>
          <a:prstGeom prst="rect">
            <a:avLst/>
          </a:prstGeom>
          <a:noFill/>
        </p:spPr>
        <p:txBody>
          <a:bodyPr wrap="square" lIns="0" rIns="0" tIns="0" bIns="0">
            <a:spAutoFit/>
          </a:bodyPr>
          <a:lstStyle/>
          <a:p>
            <a:pPr algn="r"/>
            <a:r>
              <a:rPr sz="900" b="0">
                <a:solidFill>
                  <a:srgbClr val="5A749A"/>
                </a:solidFill>
                <a:latin typeface="Helvetica Neue"/>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320040"/>
          </a:xfrm>
          <a:prstGeom prst="rect">
            <a:avLst/>
          </a:prstGeom>
          <a:noFill/>
        </p:spPr>
        <p:txBody>
          <a:bodyPr wrap="square" lIns="0" rIns="0" tIns="0" bIns="0">
            <a:spAutoFit/>
          </a:bodyPr>
          <a:lstStyle/>
          <a:p>
            <a:pPr algn="l"/>
            <a:r>
              <a:rPr sz="1100" b="1">
                <a:solidFill>
                  <a:srgbClr val="00D4AA"/>
                </a:solidFill>
                <a:latin typeface="Helvetica Neue"/>
              </a:rPr>
              <a:t>OUR SOLUTION</a:t>
            </a:r>
          </a:p>
        </p:txBody>
      </p:sp>
      <p:sp>
        <p:nvSpPr>
          <p:cNvPr id="4" name="TextBox 3"/>
          <p:cNvSpPr txBox="1"/>
          <p:nvPr/>
        </p:nvSpPr>
        <p:spPr>
          <a:xfrm>
            <a:off x="548640" y="777240"/>
            <a:ext cx="10972800" cy="1097280"/>
          </a:xfrm>
          <a:prstGeom prst="rect">
            <a:avLst/>
          </a:prstGeom>
          <a:noFill/>
        </p:spPr>
        <p:txBody>
          <a:bodyPr wrap="square" lIns="0" rIns="0" tIns="0" bIns="0">
            <a:spAutoFit/>
          </a:bodyPr>
          <a:lstStyle/>
          <a:p>
            <a:pPr algn="l">
              <a:lnSpc>
                <a:spcPct val="115000"/>
              </a:lnSpc>
            </a:pPr>
            <a:r>
              <a:rPr sz="2600" b="1">
                <a:solidFill>
                  <a:srgbClr val="E9F4FF"/>
                </a:solidFill>
                <a:latin typeface="Helvetica Neue"/>
              </a:rPr>
              <a:t>Agnes turns fragmented procurement data
into evidence-backed sourcing decisions.</a:t>
            </a:r>
          </a:p>
        </p:txBody>
      </p:sp>
      <p:sp>
        <p:nvSpPr>
          <p:cNvPr id="5" name="Rectangle 4"/>
          <p:cNvSpPr/>
          <p:nvPr/>
        </p:nvSpPr>
        <p:spPr>
          <a:xfrm>
            <a:off x="548640" y="2148840"/>
            <a:ext cx="457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2606040"/>
            <a:ext cx="3703320" cy="2834640"/>
          </a:xfrm>
          <a:prstGeom prst="roundRect">
            <a:avLst>
              <a:gd name="adj" fmla="val 4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807208"/>
            <a:ext cx="3246120" cy="365760"/>
          </a:xfrm>
          <a:prstGeom prst="rect">
            <a:avLst/>
          </a:prstGeom>
          <a:noFill/>
        </p:spPr>
        <p:txBody>
          <a:bodyPr wrap="square" lIns="0" rIns="0" tIns="0" bIns="0">
            <a:spAutoFit/>
          </a:bodyPr>
          <a:lstStyle/>
          <a:p>
            <a:pPr algn="l"/>
            <a:r>
              <a:rPr sz="1100" b="1">
                <a:solidFill>
                  <a:srgbClr val="00D4AA"/>
                </a:solidFill>
                <a:latin typeface="Helvetica Neue"/>
              </a:rPr>
              <a:t>INPUTS</a:t>
            </a:r>
          </a:p>
        </p:txBody>
      </p:sp>
      <p:sp>
        <p:nvSpPr>
          <p:cNvPr id="8" name="Oval 7"/>
          <p:cNvSpPr/>
          <p:nvPr/>
        </p:nvSpPr>
        <p:spPr>
          <a:xfrm>
            <a:off x="777240" y="3291840"/>
            <a:ext cx="128016" cy="128016"/>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200400"/>
            <a:ext cx="3017520" cy="457200"/>
          </a:xfrm>
          <a:prstGeom prst="rect">
            <a:avLst/>
          </a:prstGeom>
          <a:noFill/>
        </p:spPr>
        <p:txBody>
          <a:bodyPr wrap="square" lIns="0" rIns="0" tIns="0" bIns="0">
            <a:spAutoFit/>
          </a:bodyPr>
          <a:lstStyle/>
          <a:p>
            <a:pPr algn="l"/>
            <a:r>
              <a:rPr sz="1300" b="0">
                <a:solidFill>
                  <a:srgbClr val="E9F4FF"/>
                </a:solidFill>
                <a:latin typeface="Helvetica Neue"/>
              </a:rPr>
              <a:t>BOMs + supplier–product links</a:t>
            </a:r>
          </a:p>
        </p:txBody>
      </p:sp>
      <p:sp>
        <p:nvSpPr>
          <p:cNvPr id="10" name="Oval 9"/>
          <p:cNvSpPr/>
          <p:nvPr/>
        </p:nvSpPr>
        <p:spPr>
          <a:xfrm>
            <a:off x="777240" y="3822192"/>
            <a:ext cx="128016" cy="128016"/>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3730752"/>
            <a:ext cx="3017520" cy="457200"/>
          </a:xfrm>
          <a:prstGeom prst="rect">
            <a:avLst/>
          </a:prstGeom>
          <a:noFill/>
        </p:spPr>
        <p:txBody>
          <a:bodyPr wrap="square" lIns="0" rIns="0" tIns="0" bIns="0">
            <a:spAutoFit/>
          </a:bodyPr>
          <a:lstStyle/>
          <a:p>
            <a:pPr algn="l"/>
            <a:r>
              <a:rPr sz="1300" b="0">
                <a:solidFill>
                  <a:srgbClr val="E9F4FF"/>
                </a:solidFill>
                <a:latin typeface="Helvetica Neue"/>
              </a:rPr>
              <a:t>2 years of procurement history</a:t>
            </a:r>
          </a:p>
        </p:txBody>
      </p:sp>
      <p:sp>
        <p:nvSpPr>
          <p:cNvPr id="12" name="Oval 11"/>
          <p:cNvSpPr/>
          <p:nvPr/>
        </p:nvSpPr>
        <p:spPr>
          <a:xfrm>
            <a:off x="777240" y="4352544"/>
            <a:ext cx="128016" cy="128016"/>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261104"/>
            <a:ext cx="3017520" cy="457200"/>
          </a:xfrm>
          <a:prstGeom prst="rect">
            <a:avLst/>
          </a:prstGeom>
          <a:noFill/>
        </p:spPr>
        <p:txBody>
          <a:bodyPr wrap="square" lIns="0" rIns="0" tIns="0" bIns="0">
            <a:spAutoFit/>
          </a:bodyPr>
          <a:lstStyle/>
          <a:p>
            <a:pPr algn="l"/>
            <a:r>
              <a:rPr sz="1300" b="0">
                <a:solidFill>
                  <a:srgbClr val="E9F4FF"/>
                </a:solidFill>
                <a:latin typeface="Helvetica Neue"/>
              </a:rPr>
              <a:t>Supplier ratings + certifications</a:t>
            </a:r>
          </a:p>
        </p:txBody>
      </p:sp>
      <p:sp>
        <p:nvSpPr>
          <p:cNvPr id="14" name="Oval 13"/>
          <p:cNvSpPr/>
          <p:nvPr/>
        </p:nvSpPr>
        <p:spPr>
          <a:xfrm>
            <a:off x="777240" y="4882895"/>
            <a:ext cx="128016" cy="128016"/>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4791455"/>
            <a:ext cx="3017520" cy="457200"/>
          </a:xfrm>
          <a:prstGeom prst="rect">
            <a:avLst/>
          </a:prstGeom>
          <a:noFill/>
        </p:spPr>
        <p:txBody>
          <a:bodyPr wrap="square" lIns="0" rIns="0" tIns="0" bIns="0">
            <a:spAutoFit/>
          </a:bodyPr>
          <a:lstStyle/>
          <a:p>
            <a:pPr algn="l"/>
            <a:r>
              <a:rPr sz="1300" b="0">
                <a:solidFill>
                  <a:srgbClr val="E9F4FF"/>
                </a:solidFill>
                <a:latin typeface="Helvetica Neue"/>
              </a:rPr>
              <a:t>Market-benchmark pricing</a:t>
            </a:r>
          </a:p>
        </p:txBody>
      </p:sp>
      <p:sp>
        <p:nvSpPr>
          <p:cNvPr id="16" name="TextBox 15"/>
          <p:cNvSpPr txBox="1"/>
          <p:nvPr/>
        </p:nvSpPr>
        <p:spPr>
          <a:xfrm>
            <a:off x="4270248" y="3840480"/>
            <a:ext cx="137160" cy="457200"/>
          </a:xfrm>
          <a:prstGeom prst="rect">
            <a:avLst/>
          </a:prstGeom>
          <a:noFill/>
        </p:spPr>
        <p:txBody>
          <a:bodyPr wrap="square" lIns="0" rIns="0" tIns="0" bIns="0">
            <a:spAutoFit/>
          </a:bodyPr>
          <a:lstStyle/>
          <a:p>
            <a:pPr algn="ctr"/>
            <a:r>
              <a:rPr sz="2200" b="1">
                <a:solidFill>
                  <a:srgbClr val="5A749A"/>
                </a:solidFill>
                <a:latin typeface="Helvetica Neue"/>
              </a:rPr>
              <a:t>▸</a:t>
            </a:r>
          </a:p>
        </p:txBody>
      </p:sp>
      <p:sp>
        <p:nvSpPr>
          <p:cNvPr id="17" name="Rounded Rectangle 16"/>
          <p:cNvSpPr/>
          <p:nvPr/>
        </p:nvSpPr>
        <p:spPr>
          <a:xfrm>
            <a:off x="4389120" y="2606040"/>
            <a:ext cx="3703320" cy="2834640"/>
          </a:xfrm>
          <a:prstGeom prst="roundRect">
            <a:avLst>
              <a:gd name="adj" fmla="val 4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807208"/>
            <a:ext cx="3246120" cy="365760"/>
          </a:xfrm>
          <a:prstGeom prst="rect">
            <a:avLst/>
          </a:prstGeom>
          <a:noFill/>
        </p:spPr>
        <p:txBody>
          <a:bodyPr wrap="square" lIns="0" rIns="0" tIns="0" bIns="0">
            <a:spAutoFit/>
          </a:bodyPr>
          <a:lstStyle/>
          <a:p>
            <a:pPr algn="l"/>
            <a:r>
              <a:rPr sz="1100" b="1">
                <a:solidFill>
                  <a:srgbClr val="6C63FF"/>
                </a:solidFill>
                <a:latin typeface="Helvetica Neue"/>
              </a:rPr>
              <a:t>REASONING</a:t>
            </a:r>
          </a:p>
        </p:txBody>
      </p:sp>
      <p:sp>
        <p:nvSpPr>
          <p:cNvPr id="19" name="Oval 18"/>
          <p:cNvSpPr/>
          <p:nvPr/>
        </p:nvSpPr>
        <p:spPr>
          <a:xfrm>
            <a:off x="4617720" y="3291840"/>
            <a:ext cx="128016" cy="128016"/>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64608" y="3200400"/>
            <a:ext cx="3017520" cy="457200"/>
          </a:xfrm>
          <a:prstGeom prst="rect">
            <a:avLst/>
          </a:prstGeom>
          <a:noFill/>
        </p:spPr>
        <p:txBody>
          <a:bodyPr wrap="square" lIns="0" rIns="0" tIns="0" bIns="0">
            <a:spAutoFit/>
          </a:bodyPr>
          <a:lstStyle/>
          <a:p>
            <a:pPr algn="l"/>
            <a:r>
              <a:rPr sz="1300" b="0">
                <a:solidFill>
                  <a:srgbClr val="E9F4FF"/>
                </a:solidFill>
                <a:latin typeface="Helvetica Neue"/>
              </a:rPr>
              <a:t>Substitution detection (variant / functional)</a:t>
            </a:r>
          </a:p>
        </p:txBody>
      </p:sp>
      <p:sp>
        <p:nvSpPr>
          <p:cNvPr id="21" name="Oval 20"/>
          <p:cNvSpPr/>
          <p:nvPr/>
        </p:nvSpPr>
        <p:spPr>
          <a:xfrm>
            <a:off x="4617720" y="3822192"/>
            <a:ext cx="128016" cy="128016"/>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64608" y="3730752"/>
            <a:ext cx="3017520" cy="457200"/>
          </a:xfrm>
          <a:prstGeom prst="rect">
            <a:avLst/>
          </a:prstGeom>
          <a:noFill/>
        </p:spPr>
        <p:txBody>
          <a:bodyPr wrap="square" lIns="0" rIns="0" tIns="0" bIns="0">
            <a:spAutoFit/>
          </a:bodyPr>
          <a:lstStyle/>
          <a:p>
            <a:pPr algn="l"/>
            <a:r>
              <a:rPr sz="1300" b="0">
                <a:solidFill>
                  <a:srgbClr val="E9F4FF"/>
                </a:solidFill>
                <a:latin typeface="Helvetica Neue"/>
              </a:rPr>
              <a:t>Compliance-fit checks</a:t>
            </a:r>
          </a:p>
        </p:txBody>
      </p:sp>
      <p:sp>
        <p:nvSpPr>
          <p:cNvPr id="23" name="Oval 22"/>
          <p:cNvSpPr/>
          <p:nvPr/>
        </p:nvSpPr>
        <p:spPr>
          <a:xfrm>
            <a:off x="4617720" y="4352544"/>
            <a:ext cx="128016" cy="128016"/>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64608" y="4261104"/>
            <a:ext cx="3017520" cy="457200"/>
          </a:xfrm>
          <a:prstGeom prst="rect">
            <a:avLst/>
          </a:prstGeom>
          <a:noFill/>
        </p:spPr>
        <p:txBody>
          <a:bodyPr wrap="square" lIns="0" rIns="0" tIns="0" bIns="0">
            <a:spAutoFit/>
          </a:bodyPr>
          <a:lstStyle/>
          <a:p>
            <a:pPr algn="l"/>
            <a:r>
              <a:rPr sz="1300" b="0">
                <a:solidFill>
                  <a:srgbClr val="E9F4FF"/>
                </a:solidFill>
                <a:latin typeface="Helvetica Neue"/>
              </a:rPr>
              <a:t>Risk detection (5 risk types)</a:t>
            </a:r>
          </a:p>
        </p:txBody>
      </p:sp>
      <p:sp>
        <p:nvSpPr>
          <p:cNvPr id="25" name="Oval 24"/>
          <p:cNvSpPr/>
          <p:nvPr/>
        </p:nvSpPr>
        <p:spPr>
          <a:xfrm>
            <a:off x="4617720" y="4882895"/>
            <a:ext cx="128016" cy="128016"/>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4608" y="4791455"/>
            <a:ext cx="3017520" cy="457200"/>
          </a:xfrm>
          <a:prstGeom prst="rect">
            <a:avLst/>
          </a:prstGeom>
          <a:noFill/>
        </p:spPr>
        <p:txBody>
          <a:bodyPr wrap="square" lIns="0" rIns="0" tIns="0" bIns="0">
            <a:spAutoFit/>
          </a:bodyPr>
          <a:lstStyle/>
          <a:p>
            <a:pPr algn="l"/>
            <a:r>
              <a:rPr sz="1300" b="0">
                <a:solidFill>
                  <a:srgbClr val="E9F4FF"/>
                </a:solidFill>
                <a:latin typeface="Helvetica Neue"/>
              </a:rPr>
              <a:t>Prioritization on 5 weighted dimensions</a:t>
            </a:r>
          </a:p>
        </p:txBody>
      </p:sp>
      <p:sp>
        <p:nvSpPr>
          <p:cNvPr id="27" name="TextBox 26"/>
          <p:cNvSpPr txBox="1"/>
          <p:nvPr/>
        </p:nvSpPr>
        <p:spPr>
          <a:xfrm>
            <a:off x="8110728" y="3840480"/>
            <a:ext cx="137160" cy="457200"/>
          </a:xfrm>
          <a:prstGeom prst="rect">
            <a:avLst/>
          </a:prstGeom>
          <a:noFill/>
        </p:spPr>
        <p:txBody>
          <a:bodyPr wrap="square" lIns="0" rIns="0" tIns="0" bIns="0">
            <a:spAutoFit/>
          </a:bodyPr>
          <a:lstStyle/>
          <a:p>
            <a:pPr algn="ctr"/>
            <a:r>
              <a:rPr sz="2200" b="1">
                <a:solidFill>
                  <a:srgbClr val="5A749A"/>
                </a:solidFill>
                <a:latin typeface="Helvetica Neue"/>
              </a:rPr>
              <a:t>▸</a:t>
            </a:r>
          </a:p>
        </p:txBody>
      </p:sp>
      <p:sp>
        <p:nvSpPr>
          <p:cNvPr id="28" name="Rounded Rectangle 27"/>
          <p:cNvSpPr/>
          <p:nvPr/>
        </p:nvSpPr>
        <p:spPr>
          <a:xfrm>
            <a:off x="8229600" y="2606040"/>
            <a:ext cx="3703320" cy="2834640"/>
          </a:xfrm>
          <a:prstGeom prst="roundRect">
            <a:avLst>
              <a:gd name="adj" fmla="val 4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58200" y="2807208"/>
            <a:ext cx="3246120" cy="365760"/>
          </a:xfrm>
          <a:prstGeom prst="rect">
            <a:avLst/>
          </a:prstGeom>
          <a:noFill/>
        </p:spPr>
        <p:txBody>
          <a:bodyPr wrap="square" lIns="0" rIns="0" tIns="0" bIns="0">
            <a:spAutoFit/>
          </a:bodyPr>
          <a:lstStyle/>
          <a:p>
            <a:pPr algn="l"/>
            <a:r>
              <a:rPr sz="1100" b="1">
                <a:solidFill>
                  <a:srgbClr val="22C55E"/>
                </a:solidFill>
                <a:latin typeface="Helvetica Neue"/>
              </a:rPr>
              <a:t>OUTPUTS</a:t>
            </a:r>
          </a:p>
        </p:txBody>
      </p:sp>
      <p:sp>
        <p:nvSpPr>
          <p:cNvPr id="30" name="Oval 29"/>
          <p:cNvSpPr/>
          <p:nvPr/>
        </p:nvSpPr>
        <p:spPr>
          <a:xfrm>
            <a:off x="8458200" y="3291840"/>
            <a:ext cx="128016" cy="128016"/>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05088" y="3200400"/>
            <a:ext cx="3017520" cy="457200"/>
          </a:xfrm>
          <a:prstGeom prst="rect">
            <a:avLst/>
          </a:prstGeom>
          <a:noFill/>
        </p:spPr>
        <p:txBody>
          <a:bodyPr wrap="square" lIns="0" rIns="0" tIns="0" bIns="0">
            <a:spAutoFit/>
          </a:bodyPr>
          <a:lstStyle/>
          <a:p>
            <a:pPr algn="l"/>
            <a:r>
              <a:rPr sz="1300" b="0">
                <a:solidFill>
                  <a:srgbClr val="E9F4FF"/>
                </a:solidFill>
                <a:latin typeface="Helvetica Neue"/>
              </a:rPr>
              <a:t>Consolidation proposals w/ evidence</a:t>
            </a:r>
          </a:p>
        </p:txBody>
      </p:sp>
      <p:sp>
        <p:nvSpPr>
          <p:cNvPr id="32" name="Oval 31"/>
          <p:cNvSpPr/>
          <p:nvPr/>
        </p:nvSpPr>
        <p:spPr>
          <a:xfrm>
            <a:off x="8458200" y="3822192"/>
            <a:ext cx="128016" cy="128016"/>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05088" y="3730752"/>
            <a:ext cx="3017520" cy="457200"/>
          </a:xfrm>
          <a:prstGeom prst="rect">
            <a:avLst/>
          </a:prstGeom>
          <a:noFill/>
        </p:spPr>
        <p:txBody>
          <a:bodyPr wrap="square" lIns="0" rIns="0" tIns="0" bIns="0">
            <a:spAutoFit/>
          </a:bodyPr>
          <a:lstStyle/>
          <a:p>
            <a:pPr algn="l"/>
            <a:r>
              <a:rPr sz="1300" b="0">
                <a:solidFill>
                  <a:srgbClr val="E9F4FF"/>
                </a:solidFill>
                <a:latin typeface="Helvetica Neue"/>
              </a:rPr>
              <a:t>Substitution standardization</a:t>
            </a:r>
          </a:p>
        </p:txBody>
      </p:sp>
      <p:sp>
        <p:nvSpPr>
          <p:cNvPr id="34" name="Oval 33"/>
          <p:cNvSpPr/>
          <p:nvPr/>
        </p:nvSpPr>
        <p:spPr>
          <a:xfrm>
            <a:off x="8458200" y="4352544"/>
            <a:ext cx="128016" cy="128016"/>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05088" y="4261104"/>
            <a:ext cx="3017520" cy="457200"/>
          </a:xfrm>
          <a:prstGeom prst="rect">
            <a:avLst/>
          </a:prstGeom>
          <a:noFill/>
        </p:spPr>
        <p:txBody>
          <a:bodyPr wrap="square" lIns="0" rIns="0" tIns="0" bIns="0">
            <a:spAutoFit/>
          </a:bodyPr>
          <a:lstStyle/>
          <a:p>
            <a:pPr algn="l"/>
            <a:r>
              <a:rPr sz="1300" b="0">
                <a:solidFill>
                  <a:srgbClr val="E9F4FF"/>
                </a:solidFill>
                <a:latin typeface="Helvetica Neue"/>
              </a:rPr>
              <a:t>Risk mitigation actions</a:t>
            </a:r>
          </a:p>
        </p:txBody>
      </p:sp>
      <p:sp>
        <p:nvSpPr>
          <p:cNvPr id="36" name="Oval 35"/>
          <p:cNvSpPr/>
          <p:nvPr/>
        </p:nvSpPr>
        <p:spPr>
          <a:xfrm>
            <a:off x="8458200" y="4882895"/>
            <a:ext cx="128016" cy="128016"/>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05088" y="4791455"/>
            <a:ext cx="3017520" cy="457200"/>
          </a:xfrm>
          <a:prstGeom prst="rect">
            <a:avLst/>
          </a:prstGeom>
          <a:noFill/>
        </p:spPr>
        <p:txBody>
          <a:bodyPr wrap="square" lIns="0" rIns="0" tIns="0" bIns="0">
            <a:spAutoFit/>
          </a:bodyPr>
          <a:lstStyle/>
          <a:p>
            <a:pPr algn="l"/>
            <a:r>
              <a:rPr sz="1300" b="0">
                <a:solidFill>
                  <a:srgbClr val="E9F4FF"/>
                </a:solidFill>
                <a:latin typeface="Helvetica Neue"/>
              </a:rPr>
              <a:t>Cost-optimization opportunities</a:t>
            </a:r>
          </a:p>
        </p:txBody>
      </p:sp>
      <p:sp>
        <p:nvSpPr>
          <p:cNvPr id="38" name="TextBox 37"/>
          <p:cNvSpPr txBox="1"/>
          <p:nvPr/>
        </p:nvSpPr>
        <p:spPr>
          <a:xfrm>
            <a:off x="548640" y="5669280"/>
            <a:ext cx="11155680" cy="274320"/>
          </a:xfrm>
          <a:prstGeom prst="rect">
            <a:avLst/>
          </a:prstGeom>
          <a:noFill/>
        </p:spPr>
        <p:txBody>
          <a:bodyPr wrap="square" lIns="0" rIns="0" tIns="0" bIns="0">
            <a:spAutoFit/>
          </a:bodyPr>
          <a:lstStyle/>
          <a:p>
            <a:pPr algn="l"/>
            <a:r>
              <a:rPr sz="1000" b="1">
                <a:solidFill>
                  <a:srgbClr val="5A749A"/>
                </a:solidFill>
                <a:latin typeface="Helvetica Neue"/>
              </a:rPr>
              <a:t>ONE ENGINE, FOUR SURFACES</a:t>
            </a:r>
          </a:p>
        </p:txBody>
      </p:sp>
      <p:sp>
        <p:nvSpPr>
          <p:cNvPr id="39" name="Rounded Rectangle 38"/>
          <p:cNvSpPr/>
          <p:nvPr/>
        </p:nvSpPr>
        <p:spPr>
          <a:xfrm>
            <a:off x="548640" y="5989320"/>
            <a:ext cx="859536" cy="329184"/>
          </a:xfrm>
          <a:prstGeom prst="roundRect">
            <a:avLst>
              <a:gd name="adj" fmla="val 35000"/>
            </a:avLst>
          </a:prstGeom>
          <a:solidFill>
            <a:srgbClr val="1A2236"/>
          </a:solidFill>
          <a:ln w="127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lIns="137160" rIns="137160" tIns="0" bIns="0"/>
          <a:lstStyle/>
          <a:p>
            <a:pPr algn="ctr"/>
            <a:r>
              <a:rPr sz="1200" b="1">
                <a:solidFill>
                  <a:srgbClr val="00D4AA"/>
                </a:solidFill>
                <a:latin typeface="Helvetica Neue"/>
              </a:rPr>
              <a:t>Chat</a:t>
            </a:r>
          </a:p>
        </p:txBody>
      </p:sp>
      <p:sp>
        <p:nvSpPr>
          <p:cNvPr id="40" name="Rounded Rectangle 39"/>
          <p:cNvSpPr/>
          <p:nvPr/>
        </p:nvSpPr>
        <p:spPr>
          <a:xfrm>
            <a:off x="1545336" y="5989320"/>
            <a:ext cx="1261872" cy="329184"/>
          </a:xfrm>
          <a:prstGeom prst="roundRect">
            <a:avLst>
              <a:gd name="adj" fmla="val 35000"/>
            </a:avLst>
          </a:prstGeom>
          <a:solidFill>
            <a:srgbClr val="1A2236"/>
          </a:solidFill>
          <a:ln w="127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lIns="137160" rIns="137160" tIns="0" bIns="0"/>
          <a:lstStyle/>
          <a:p>
            <a:pPr algn="ctr"/>
            <a:r>
              <a:rPr sz="1200" b="1">
                <a:solidFill>
                  <a:srgbClr val="00D4AA"/>
                </a:solidFill>
                <a:latin typeface="Helvetica Neue"/>
              </a:rPr>
              <a:t>Explorer</a:t>
            </a:r>
          </a:p>
        </p:txBody>
      </p:sp>
      <p:sp>
        <p:nvSpPr>
          <p:cNvPr id="41" name="Rounded Rectangle 40"/>
          <p:cNvSpPr/>
          <p:nvPr/>
        </p:nvSpPr>
        <p:spPr>
          <a:xfrm>
            <a:off x="2944368" y="5989320"/>
            <a:ext cx="1261872" cy="329184"/>
          </a:xfrm>
          <a:prstGeom prst="roundRect">
            <a:avLst>
              <a:gd name="adj" fmla="val 35000"/>
            </a:avLst>
          </a:prstGeom>
          <a:solidFill>
            <a:srgbClr val="1A2236"/>
          </a:solidFill>
          <a:ln w="127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lIns="137160" rIns="137160" tIns="0" bIns="0"/>
          <a:lstStyle/>
          <a:p>
            <a:pPr algn="ctr"/>
            <a:r>
              <a:rPr sz="1200" b="1">
                <a:solidFill>
                  <a:srgbClr val="00D4AA"/>
                </a:solidFill>
                <a:latin typeface="Helvetica Neue"/>
              </a:rPr>
              <a:t>Insights</a:t>
            </a:r>
          </a:p>
        </p:txBody>
      </p:sp>
      <p:sp>
        <p:nvSpPr>
          <p:cNvPr id="42" name="Rounded Rectangle 41"/>
          <p:cNvSpPr/>
          <p:nvPr/>
        </p:nvSpPr>
        <p:spPr>
          <a:xfrm>
            <a:off x="4343400" y="5989320"/>
            <a:ext cx="859536" cy="329184"/>
          </a:xfrm>
          <a:prstGeom prst="roundRect">
            <a:avLst>
              <a:gd name="adj" fmla="val 35000"/>
            </a:avLst>
          </a:prstGeom>
          <a:solidFill>
            <a:srgbClr val="1A2236"/>
          </a:solidFill>
          <a:ln w="127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lIns="137160" rIns="137160" tIns="0" bIns="0"/>
          <a:lstStyle/>
          <a:p>
            <a:pPr algn="ctr"/>
            <a:r>
              <a:rPr sz="1200" b="1">
                <a:solidFill>
                  <a:srgbClr val="00D4AA"/>
                </a:solidFill>
                <a:latin typeface="Helvetica Neue"/>
              </a:rPr>
              <a:t>Cube</a:t>
            </a:r>
          </a:p>
        </p:txBody>
      </p:sp>
      <p:sp>
        <p:nvSpPr>
          <p:cNvPr id="43" name="TextBox 42"/>
          <p:cNvSpPr txBox="1"/>
          <p:nvPr/>
        </p:nvSpPr>
        <p:spPr>
          <a:xfrm>
            <a:off x="6675120" y="5669280"/>
            <a:ext cx="5029200" cy="274320"/>
          </a:xfrm>
          <a:prstGeom prst="rect">
            <a:avLst/>
          </a:prstGeom>
          <a:noFill/>
        </p:spPr>
        <p:txBody>
          <a:bodyPr wrap="square" lIns="0" rIns="0" tIns="0" bIns="0">
            <a:spAutoFit/>
          </a:bodyPr>
          <a:lstStyle/>
          <a:p>
            <a:pPr algn="r"/>
            <a:r>
              <a:rPr sz="1000" b="1">
                <a:solidFill>
                  <a:srgbClr val="5A749A"/>
                </a:solidFill>
                <a:latin typeface="Helvetica Neue"/>
              </a:rPr>
              <a:t>RUN AGAINST</a:t>
            </a:r>
          </a:p>
        </p:txBody>
      </p:sp>
      <p:sp>
        <p:nvSpPr>
          <p:cNvPr id="44" name="TextBox 43"/>
          <p:cNvSpPr txBox="1"/>
          <p:nvPr/>
        </p:nvSpPr>
        <p:spPr>
          <a:xfrm>
            <a:off x="6675120" y="5943600"/>
            <a:ext cx="5029200" cy="411480"/>
          </a:xfrm>
          <a:prstGeom prst="rect">
            <a:avLst/>
          </a:prstGeom>
          <a:noFill/>
        </p:spPr>
        <p:txBody>
          <a:bodyPr wrap="square" lIns="0" rIns="0" tIns="0" bIns="0">
            <a:spAutoFit/>
          </a:bodyPr>
          <a:lstStyle/>
          <a:p>
            <a:pPr algn="r"/>
            <a:r>
              <a:rPr sz="1200" b="1">
                <a:solidFill>
                  <a:srgbClr val="8BA3C7"/>
                </a:solidFill>
                <a:latin typeface="Helvetica Neue"/>
              </a:rPr>
              <a:t>61 companies  ·  357 ingredients  ·  8,127 orders  ·  $1.52B spend</a:t>
            </a:r>
          </a:p>
        </p:txBody>
      </p:sp>
      <p:sp>
        <p:nvSpPr>
          <p:cNvPr id="45" name="TextBox 44"/>
          <p:cNvSpPr txBox="1"/>
          <p:nvPr/>
        </p:nvSpPr>
        <p:spPr>
          <a:xfrm>
            <a:off x="548640" y="6446520"/>
            <a:ext cx="9144000" cy="274320"/>
          </a:xfrm>
          <a:prstGeom prst="rect">
            <a:avLst/>
          </a:prstGeom>
          <a:noFill/>
        </p:spPr>
        <p:txBody>
          <a:bodyPr wrap="square" lIns="0" rIns="0" tIns="0" bIns="0">
            <a:spAutoFit/>
          </a:bodyPr>
          <a:lstStyle/>
          <a:p>
            <a:pPr algn="l"/>
            <a:r>
              <a:rPr sz="900" b="0">
                <a:solidFill>
                  <a:srgbClr val="5A749A"/>
                </a:solidFill>
                <a:latin typeface="Helvetica Neue"/>
              </a:rPr>
              <a:t>AgnesTheSecond  ·  TUM.ai × Spherecast Makeathon 2026  ·  Trustworthy sourcing, not just cheaper sourcing.</a:t>
            </a:r>
          </a:p>
        </p:txBody>
      </p:sp>
      <p:sp>
        <p:nvSpPr>
          <p:cNvPr id="46" name="TextBox 45"/>
          <p:cNvSpPr txBox="1"/>
          <p:nvPr/>
        </p:nvSpPr>
        <p:spPr>
          <a:xfrm>
            <a:off x="10058400" y="6446520"/>
            <a:ext cx="1828800" cy="274320"/>
          </a:xfrm>
          <a:prstGeom prst="rect">
            <a:avLst/>
          </a:prstGeom>
          <a:noFill/>
        </p:spPr>
        <p:txBody>
          <a:bodyPr wrap="square" lIns="0" rIns="0" tIns="0" bIns="0">
            <a:spAutoFit/>
          </a:bodyPr>
          <a:lstStyle/>
          <a:p>
            <a:pPr algn="r"/>
            <a:r>
              <a:rPr sz="900" b="0">
                <a:solidFill>
                  <a:srgbClr val="5A749A"/>
                </a:solidFill>
                <a:latin typeface="Helvetica Neue"/>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320040"/>
          </a:xfrm>
          <a:prstGeom prst="rect">
            <a:avLst/>
          </a:prstGeom>
          <a:noFill/>
        </p:spPr>
        <p:txBody>
          <a:bodyPr wrap="square" lIns="0" rIns="0" tIns="0" bIns="0">
            <a:spAutoFit/>
          </a:bodyPr>
          <a:lstStyle/>
          <a:p>
            <a:pPr algn="l"/>
            <a:r>
              <a:rPr sz="1100" b="1">
                <a:solidFill>
                  <a:srgbClr val="00D4AA"/>
                </a:solidFill>
                <a:latin typeface="Helvetica Neue"/>
              </a:rPr>
              <a:t>WHY OUR APPROACH IS TRUSTWORTHY</a:t>
            </a:r>
          </a:p>
        </p:txBody>
      </p:sp>
      <p:sp>
        <p:nvSpPr>
          <p:cNvPr id="4" name="TextBox 3"/>
          <p:cNvSpPr txBox="1"/>
          <p:nvPr/>
        </p:nvSpPr>
        <p:spPr>
          <a:xfrm>
            <a:off x="548640" y="777240"/>
            <a:ext cx="10972800" cy="1097280"/>
          </a:xfrm>
          <a:prstGeom prst="rect">
            <a:avLst/>
          </a:prstGeom>
          <a:noFill/>
        </p:spPr>
        <p:txBody>
          <a:bodyPr wrap="square" lIns="0" rIns="0" tIns="0" bIns="0">
            <a:spAutoFit/>
          </a:bodyPr>
          <a:lstStyle/>
          <a:p>
            <a:pPr algn="l">
              <a:lnSpc>
                <a:spcPct val="115000"/>
              </a:lnSpc>
            </a:pPr>
            <a:r>
              <a:rPr sz="2600" b="1">
                <a:solidFill>
                  <a:srgbClr val="E9F4FF"/>
                </a:solidFill>
                <a:latin typeface="Helvetica Neue"/>
              </a:rPr>
              <a:t>Agnes is designed to be defensible, not just impressive.</a:t>
            </a:r>
          </a:p>
        </p:txBody>
      </p:sp>
      <p:sp>
        <p:nvSpPr>
          <p:cNvPr id="5" name="Rectangle 4"/>
          <p:cNvSpPr/>
          <p:nvPr/>
        </p:nvSpPr>
        <p:spPr>
          <a:xfrm>
            <a:off x="548640" y="1783080"/>
            <a:ext cx="457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2194560"/>
            <a:ext cx="5989320" cy="3291840"/>
          </a:xfrm>
          <a:prstGeom prst="roundRect">
            <a:avLst>
              <a:gd name="adj" fmla="val 4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377440"/>
            <a:ext cx="5532120" cy="365760"/>
          </a:xfrm>
          <a:prstGeom prst="rect">
            <a:avLst/>
          </a:prstGeom>
          <a:noFill/>
        </p:spPr>
        <p:txBody>
          <a:bodyPr wrap="square" lIns="0" rIns="0" tIns="0" bIns="0">
            <a:spAutoFit/>
          </a:bodyPr>
          <a:lstStyle/>
          <a:p>
            <a:pPr algn="l"/>
            <a:r>
              <a:rPr sz="1100" b="1">
                <a:solidFill>
                  <a:srgbClr val="00D4AA"/>
                </a:solidFill>
                <a:latin typeface="Helvetica Neue"/>
              </a:rPr>
              <a:t>PRIORITIZATION FRAMEWORK</a:t>
            </a:r>
          </a:p>
        </p:txBody>
      </p:sp>
      <p:sp>
        <p:nvSpPr>
          <p:cNvPr id="8" name="TextBox 7"/>
          <p:cNvSpPr txBox="1"/>
          <p:nvPr/>
        </p:nvSpPr>
        <p:spPr>
          <a:xfrm>
            <a:off x="777240" y="2697480"/>
            <a:ext cx="5532120" cy="457200"/>
          </a:xfrm>
          <a:prstGeom prst="rect">
            <a:avLst/>
          </a:prstGeom>
          <a:noFill/>
        </p:spPr>
        <p:txBody>
          <a:bodyPr wrap="square" lIns="0" rIns="0" tIns="0" bIns="0">
            <a:spAutoFit/>
          </a:bodyPr>
          <a:lstStyle/>
          <a:p>
            <a:pPr algn="l"/>
            <a:r>
              <a:rPr sz="1500" b="1">
                <a:solidFill>
                  <a:srgbClr val="E9F4FF"/>
                </a:solidFill>
                <a:latin typeface="Helvetica Neue"/>
              </a:rPr>
              <a:t>5 dimensions.  One weighted score.</a:t>
            </a:r>
          </a:p>
        </p:txBody>
      </p:sp>
      <p:sp>
        <p:nvSpPr>
          <p:cNvPr id="9" name="TextBox 8"/>
          <p:cNvSpPr txBox="1"/>
          <p:nvPr/>
        </p:nvSpPr>
        <p:spPr>
          <a:xfrm>
            <a:off x="777240" y="3246120"/>
            <a:ext cx="2194560" cy="320040"/>
          </a:xfrm>
          <a:prstGeom prst="rect">
            <a:avLst/>
          </a:prstGeom>
          <a:noFill/>
        </p:spPr>
        <p:txBody>
          <a:bodyPr wrap="square" lIns="0" rIns="0" tIns="0" bIns="0">
            <a:spAutoFit/>
          </a:bodyPr>
          <a:lstStyle/>
          <a:p>
            <a:pPr algn="l"/>
            <a:r>
              <a:rPr sz="1100" b="0">
                <a:solidFill>
                  <a:srgbClr val="E9F4FF"/>
                </a:solidFill>
                <a:latin typeface="Helvetica Neue"/>
              </a:rPr>
              <a:t>Consolidation leverage</a:t>
            </a:r>
          </a:p>
        </p:txBody>
      </p:sp>
      <p:sp>
        <p:nvSpPr>
          <p:cNvPr id="10" name="Rectangle 9"/>
          <p:cNvSpPr/>
          <p:nvPr/>
        </p:nvSpPr>
        <p:spPr>
          <a:xfrm>
            <a:off x="3017520" y="3328416"/>
            <a:ext cx="2834640" cy="146304"/>
          </a:xfrm>
          <a:prstGeom prst="rect">
            <a:avLst/>
          </a:prstGeom>
          <a:solidFill>
            <a:srgbClr val="1A22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17520" y="3328416"/>
            <a:ext cx="2834640" cy="14630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97880" y="3246120"/>
            <a:ext cx="548640" cy="320040"/>
          </a:xfrm>
          <a:prstGeom prst="rect">
            <a:avLst/>
          </a:prstGeom>
          <a:noFill/>
        </p:spPr>
        <p:txBody>
          <a:bodyPr wrap="square" lIns="0" rIns="0" tIns="0" bIns="0">
            <a:spAutoFit/>
          </a:bodyPr>
          <a:lstStyle/>
          <a:p>
            <a:pPr algn="r"/>
            <a:r>
              <a:rPr sz="1100" b="1">
                <a:solidFill>
                  <a:srgbClr val="00D4AA"/>
                </a:solidFill>
                <a:latin typeface="Menlo"/>
              </a:rPr>
              <a:t>0.35</a:t>
            </a:r>
          </a:p>
        </p:txBody>
      </p:sp>
      <p:sp>
        <p:nvSpPr>
          <p:cNvPr id="13" name="TextBox 12"/>
          <p:cNvSpPr txBox="1"/>
          <p:nvPr/>
        </p:nvSpPr>
        <p:spPr>
          <a:xfrm>
            <a:off x="777240" y="3593591"/>
            <a:ext cx="2194560" cy="320040"/>
          </a:xfrm>
          <a:prstGeom prst="rect">
            <a:avLst/>
          </a:prstGeom>
          <a:noFill/>
        </p:spPr>
        <p:txBody>
          <a:bodyPr wrap="square" lIns="0" rIns="0" tIns="0" bIns="0">
            <a:spAutoFit/>
          </a:bodyPr>
          <a:lstStyle/>
          <a:p>
            <a:pPr algn="l"/>
            <a:r>
              <a:rPr sz="1100" b="0">
                <a:solidFill>
                  <a:srgbClr val="E9F4FF"/>
                </a:solidFill>
                <a:latin typeface="Helvetica Neue"/>
              </a:rPr>
              <a:t>Evidence confidence</a:t>
            </a:r>
          </a:p>
        </p:txBody>
      </p:sp>
      <p:sp>
        <p:nvSpPr>
          <p:cNvPr id="14" name="Rectangle 13"/>
          <p:cNvSpPr/>
          <p:nvPr/>
        </p:nvSpPr>
        <p:spPr>
          <a:xfrm>
            <a:off x="3017520" y="3675887"/>
            <a:ext cx="2834640" cy="146304"/>
          </a:xfrm>
          <a:prstGeom prst="rect">
            <a:avLst/>
          </a:prstGeom>
          <a:solidFill>
            <a:srgbClr val="1A22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17520" y="3675887"/>
            <a:ext cx="2024742" cy="14630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97880" y="3593591"/>
            <a:ext cx="548640" cy="320040"/>
          </a:xfrm>
          <a:prstGeom prst="rect">
            <a:avLst/>
          </a:prstGeom>
          <a:noFill/>
        </p:spPr>
        <p:txBody>
          <a:bodyPr wrap="square" lIns="0" rIns="0" tIns="0" bIns="0">
            <a:spAutoFit/>
          </a:bodyPr>
          <a:lstStyle/>
          <a:p>
            <a:pPr algn="r"/>
            <a:r>
              <a:rPr sz="1100" b="1">
                <a:solidFill>
                  <a:srgbClr val="00D4AA"/>
                </a:solidFill>
                <a:latin typeface="Menlo"/>
              </a:rPr>
              <a:t>0.25</a:t>
            </a:r>
          </a:p>
        </p:txBody>
      </p:sp>
      <p:sp>
        <p:nvSpPr>
          <p:cNvPr id="17" name="TextBox 16"/>
          <p:cNvSpPr txBox="1"/>
          <p:nvPr/>
        </p:nvSpPr>
        <p:spPr>
          <a:xfrm>
            <a:off x="777240" y="3941063"/>
            <a:ext cx="2194560" cy="320040"/>
          </a:xfrm>
          <a:prstGeom prst="rect">
            <a:avLst/>
          </a:prstGeom>
          <a:noFill/>
        </p:spPr>
        <p:txBody>
          <a:bodyPr wrap="square" lIns="0" rIns="0" tIns="0" bIns="0">
            <a:spAutoFit/>
          </a:bodyPr>
          <a:lstStyle/>
          <a:p>
            <a:pPr algn="l"/>
            <a:r>
              <a:rPr sz="1100" b="0">
                <a:solidFill>
                  <a:srgbClr val="E9F4FF"/>
                </a:solidFill>
                <a:latin typeface="Helvetica Neue"/>
              </a:rPr>
              <a:t>Compliance fit</a:t>
            </a:r>
          </a:p>
        </p:txBody>
      </p:sp>
      <p:sp>
        <p:nvSpPr>
          <p:cNvPr id="18" name="Rectangle 17"/>
          <p:cNvSpPr/>
          <p:nvPr/>
        </p:nvSpPr>
        <p:spPr>
          <a:xfrm>
            <a:off x="3017520" y="4023359"/>
            <a:ext cx="2834640" cy="146304"/>
          </a:xfrm>
          <a:prstGeom prst="rect">
            <a:avLst/>
          </a:prstGeom>
          <a:solidFill>
            <a:srgbClr val="1A22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017520" y="4023359"/>
            <a:ext cx="1619794" cy="14630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3941063"/>
            <a:ext cx="548640" cy="320040"/>
          </a:xfrm>
          <a:prstGeom prst="rect">
            <a:avLst/>
          </a:prstGeom>
          <a:noFill/>
        </p:spPr>
        <p:txBody>
          <a:bodyPr wrap="square" lIns="0" rIns="0" tIns="0" bIns="0">
            <a:spAutoFit/>
          </a:bodyPr>
          <a:lstStyle/>
          <a:p>
            <a:pPr algn="r"/>
            <a:r>
              <a:rPr sz="1100" b="1">
                <a:solidFill>
                  <a:srgbClr val="00D4AA"/>
                </a:solidFill>
                <a:latin typeface="Menlo"/>
              </a:rPr>
              <a:t>0.20</a:t>
            </a:r>
          </a:p>
        </p:txBody>
      </p:sp>
      <p:sp>
        <p:nvSpPr>
          <p:cNvPr id="21" name="TextBox 20"/>
          <p:cNvSpPr txBox="1"/>
          <p:nvPr/>
        </p:nvSpPr>
        <p:spPr>
          <a:xfrm>
            <a:off x="777240" y="4288536"/>
            <a:ext cx="2194560" cy="320040"/>
          </a:xfrm>
          <a:prstGeom prst="rect">
            <a:avLst/>
          </a:prstGeom>
          <a:noFill/>
        </p:spPr>
        <p:txBody>
          <a:bodyPr wrap="square" lIns="0" rIns="0" tIns="0" bIns="0">
            <a:spAutoFit/>
          </a:bodyPr>
          <a:lstStyle/>
          <a:p>
            <a:pPr algn="l"/>
            <a:r>
              <a:rPr sz="1100" b="1">
                <a:solidFill>
                  <a:srgbClr val="EF4444"/>
                </a:solidFill>
                <a:latin typeface="Helvetica Neue"/>
              </a:rPr>
              <a:t>Supplier diversification</a:t>
            </a:r>
          </a:p>
        </p:txBody>
      </p:sp>
      <p:sp>
        <p:nvSpPr>
          <p:cNvPr id="22" name="TextBox 21"/>
          <p:cNvSpPr txBox="1"/>
          <p:nvPr/>
        </p:nvSpPr>
        <p:spPr>
          <a:xfrm>
            <a:off x="2834640" y="4288536"/>
            <a:ext cx="182880" cy="320040"/>
          </a:xfrm>
          <a:prstGeom prst="rect">
            <a:avLst/>
          </a:prstGeom>
          <a:noFill/>
        </p:spPr>
        <p:txBody>
          <a:bodyPr wrap="square" lIns="0" rIns="0" tIns="0" bIns="0">
            <a:spAutoFit/>
          </a:bodyPr>
          <a:lstStyle/>
          <a:p>
            <a:pPr algn="l"/>
            <a:r>
              <a:rPr sz="1200" b="1">
                <a:solidFill>
                  <a:srgbClr val="EF4444"/>
                </a:solidFill>
                <a:latin typeface="Helvetica Neue"/>
              </a:rPr>
              <a:t>⚙</a:t>
            </a:r>
          </a:p>
        </p:txBody>
      </p:sp>
      <p:sp>
        <p:nvSpPr>
          <p:cNvPr id="23" name="Rectangle 22"/>
          <p:cNvSpPr/>
          <p:nvPr/>
        </p:nvSpPr>
        <p:spPr>
          <a:xfrm>
            <a:off x="3017520" y="4370832"/>
            <a:ext cx="2834640" cy="146304"/>
          </a:xfrm>
          <a:prstGeom prst="rect">
            <a:avLst/>
          </a:prstGeom>
          <a:solidFill>
            <a:srgbClr val="1A22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17520" y="4370832"/>
            <a:ext cx="809897" cy="14630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97880" y="4288536"/>
            <a:ext cx="548640" cy="320040"/>
          </a:xfrm>
          <a:prstGeom prst="rect">
            <a:avLst/>
          </a:prstGeom>
          <a:noFill/>
        </p:spPr>
        <p:txBody>
          <a:bodyPr wrap="square" lIns="0" rIns="0" tIns="0" bIns="0">
            <a:spAutoFit/>
          </a:bodyPr>
          <a:lstStyle/>
          <a:p>
            <a:pPr algn="r"/>
            <a:r>
              <a:rPr sz="1100" b="1">
                <a:solidFill>
                  <a:srgbClr val="EF4444"/>
                </a:solidFill>
                <a:latin typeface="Menlo"/>
              </a:rPr>
              <a:t>0.10</a:t>
            </a:r>
          </a:p>
        </p:txBody>
      </p:sp>
      <p:sp>
        <p:nvSpPr>
          <p:cNvPr id="26" name="TextBox 25"/>
          <p:cNvSpPr txBox="1"/>
          <p:nvPr/>
        </p:nvSpPr>
        <p:spPr>
          <a:xfrm>
            <a:off x="777240" y="4636008"/>
            <a:ext cx="2194560" cy="320040"/>
          </a:xfrm>
          <a:prstGeom prst="rect">
            <a:avLst/>
          </a:prstGeom>
          <a:noFill/>
        </p:spPr>
        <p:txBody>
          <a:bodyPr wrap="square" lIns="0" rIns="0" tIns="0" bIns="0">
            <a:spAutoFit/>
          </a:bodyPr>
          <a:lstStyle/>
          <a:p>
            <a:pPr algn="l"/>
            <a:r>
              <a:rPr sz="1100" b="0">
                <a:solidFill>
                  <a:srgbClr val="E9F4FF"/>
                </a:solidFill>
                <a:latin typeface="Helvetica Neue"/>
              </a:rPr>
              <a:t>Switching feasibility</a:t>
            </a:r>
          </a:p>
        </p:txBody>
      </p:sp>
      <p:sp>
        <p:nvSpPr>
          <p:cNvPr id="27" name="Rectangle 26"/>
          <p:cNvSpPr/>
          <p:nvPr/>
        </p:nvSpPr>
        <p:spPr>
          <a:xfrm>
            <a:off x="3017520" y="4718304"/>
            <a:ext cx="2834640" cy="146304"/>
          </a:xfrm>
          <a:prstGeom prst="rect">
            <a:avLst/>
          </a:prstGeom>
          <a:solidFill>
            <a:srgbClr val="1A22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017520" y="4718304"/>
            <a:ext cx="809897" cy="14630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97880" y="4636008"/>
            <a:ext cx="548640" cy="320040"/>
          </a:xfrm>
          <a:prstGeom prst="rect">
            <a:avLst/>
          </a:prstGeom>
          <a:noFill/>
        </p:spPr>
        <p:txBody>
          <a:bodyPr wrap="square" lIns="0" rIns="0" tIns="0" bIns="0">
            <a:spAutoFit/>
          </a:bodyPr>
          <a:lstStyle/>
          <a:p>
            <a:pPr algn="r"/>
            <a:r>
              <a:rPr sz="1100" b="1">
                <a:solidFill>
                  <a:srgbClr val="00D4AA"/>
                </a:solidFill>
                <a:latin typeface="Menlo"/>
              </a:rPr>
              <a:t>0.10</a:t>
            </a:r>
          </a:p>
        </p:txBody>
      </p:sp>
      <p:sp>
        <p:nvSpPr>
          <p:cNvPr id="30" name="Rounded Rectangle 29"/>
          <p:cNvSpPr/>
          <p:nvPr/>
        </p:nvSpPr>
        <p:spPr>
          <a:xfrm>
            <a:off x="6766560" y="2194560"/>
            <a:ext cx="4937760" cy="3291840"/>
          </a:xfrm>
          <a:prstGeom prst="roundRect">
            <a:avLst>
              <a:gd name="adj" fmla="val 4000"/>
            </a:avLst>
          </a:prstGeom>
          <a:solidFill>
            <a:srgbClr val="111827"/>
          </a:solidFill>
          <a:ln w="15875">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95160" y="2377440"/>
            <a:ext cx="4480560" cy="365760"/>
          </a:xfrm>
          <a:prstGeom prst="rect">
            <a:avLst/>
          </a:prstGeom>
          <a:noFill/>
        </p:spPr>
        <p:txBody>
          <a:bodyPr wrap="square" lIns="0" rIns="0" tIns="0" bIns="0">
            <a:spAutoFit/>
          </a:bodyPr>
          <a:lstStyle/>
          <a:p>
            <a:pPr algn="l"/>
            <a:r>
              <a:rPr sz="1100" b="1">
                <a:solidFill>
                  <a:srgbClr val="00D4AA"/>
                </a:solidFill>
                <a:latin typeface="Helvetica Neue"/>
              </a:rPr>
              <a:t>THE HARD RULE</a:t>
            </a:r>
          </a:p>
        </p:txBody>
      </p:sp>
      <p:sp>
        <p:nvSpPr>
          <p:cNvPr id="32" name="TextBox 31"/>
          <p:cNvSpPr txBox="1"/>
          <p:nvPr/>
        </p:nvSpPr>
        <p:spPr>
          <a:xfrm>
            <a:off x="6766560" y="2697480"/>
            <a:ext cx="4937760" cy="1280160"/>
          </a:xfrm>
          <a:prstGeom prst="rect">
            <a:avLst/>
          </a:prstGeom>
          <a:noFill/>
        </p:spPr>
        <p:txBody>
          <a:bodyPr wrap="square" lIns="0" rIns="0" tIns="0" bIns="0">
            <a:spAutoFit/>
          </a:bodyPr>
          <a:lstStyle/>
          <a:p>
            <a:pPr algn="ctr">
              <a:lnSpc>
                <a:spcPct val="90000"/>
              </a:lnSpc>
            </a:pPr>
            <a:r>
              <a:rPr sz="9600" b="1">
                <a:solidFill>
                  <a:srgbClr val="E9F4FF"/>
                </a:solidFill>
                <a:latin typeface="Helvetica Neue"/>
              </a:rPr>
              <a:t>124 / 125</a:t>
            </a:r>
          </a:p>
        </p:txBody>
      </p:sp>
      <p:sp>
        <p:nvSpPr>
          <p:cNvPr id="33" name="TextBox 32"/>
          <p:cNvSpPr txBox="1"/>
          <p:nvPr/>
        </p:nvSpPr>
        <p:spPr>
          <a:xfrm>
            <a:off x="6995160" y="4069079"/>
            <a:ext cx="4480560" cy="457200"/>
          </a:xfrm>
          <a:prstGeom prst="rect">
            <a:avLst/>
          </a:prstGeom>
          <a:noFill/>
        </p:spPr>
        <p:txBody>
          <a:bodyPr wrap="square" lIns="0" rIns="0" tIns="0" bIns="0">
            <a:spAutoFit/>
          </a:bodyPr>
          <a:lstStyle/>
          <a:p>
            <a:pPr algn="ctr">
              <a:lnSpc>
                <a:spcPct val="120000"/>
              </a:lnSpc>
            </a:pPr>
            <a:r>
              <a:rPr sz="1300" b="1">
                <a:solidFill>
                  <a:srgbClr val="00D4AA"/>
                </a:solidFill>
                <a:latin typeface="Helvetica Neue"/>
              </a:rPr>
              <a:t>consolidation opportunities trigger
the anti-monopoly veto.</a:t>
            </a:r>
          </a:p>
        </p:txBody>
      </p:sp>
      <p:sp>
        <p:nvSpPr>
          <p:cNvPr id="34" name="TextBox 33"/>
          <p:cNvSpPr txBox="1"/>
          <p:nvPr/>
        </p:nvSpPr>
        <p:spPr>
          <a:xfrm>
            <a:off x="6995160" y="4892040"/>
            <a:ext cx="4480560" cy="502920"/>
          </a:xfrm>
          <a:prstGeom prst="rect">
            <a:avLst/>
          </a:prstGeom>
          <a:noFill/>
        </p:spPr>
        <p:txBody>
          <a:bodyPr wrap="square" lIns="0" rIns="0" tIns="0" bIns="0">
            <a:spAutoFit/>
          </a:bodyPr>
          <a:lstStyle/>
          <a:p>
            <a:pPr algn="ctr">
              <a:lnSpc>
                <a:spcPct val="130000"/>
              </a:lnSpc>
            </a:pPr>
            <a:r>
              <a:rPr sz="1000" b="0">
                <a:solidFill>
                  <a:srgbClr val="8BA3C7"/>
                </a:solidFill>
                <a:latin typeface="Helvetica Neue"/>
              </a:rPr>
              <a:t>If consolidation would leave ≤ 2 suppliers network-wide, the grade is automatically downgraded.</a:t>
            </a:r>
          </a:p>
        </p:txBody>
      </p:sp>
      <p:sp>
        <p:nvSpPr>
          <p:cNvPr id="35" name="Rounded Rectangle 34"/>
          <p:cNvSpPr/>
          <p:nvPr/>
        </p:nvSpPr>
        <p:spPr>
          <a:xfrm>
            <a:off x="548640" y="5623560"/>
            <a:ext cx="3703320" cy="731520"/>
          </a:xfrm>
          <a:prstGeom prst="roundRect">
            <a:avLst>
              <a:gd name="adj" fmla="val 6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5623560"/>
            <a:ext cx="73152" cy="73152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5669280"/>
            <a:ext cx="3246120" cy="274320"/>
          </a:xfrm>
          <a:prstGeom prst="rect">
            <a:avLst/>
          </a:prstGeom>
          <a:noFill/>
        </p:spPr>
        <p:txBody>
          <a:bodyPr wrap="square" lIns="0" rIns="0" tIns="0" bIns="0">
            <a:spAutoFit/>
          </a:bodyPr>
          <a:lstStyle/>
          <a:p>
            <a:pPr algn="l"/>
            <a:r>
              <a:rPr sz="1200" b="1">
                <a:solidFill>
                  <a:srgbClr val="E9F4FF"/>
                </a:solidFill>
                <a:latin typeface="Helvetica Neue"/>
              </a:rPr>
              <a:t>Beta Carotene</a:t>
            </a:r>
          </a:p>
        </p:txBody>
      </p:sp>
      <p:sp>
        <p:nvSpPr>
          <p:cNvPr id="38" name="TextBox 37"/>
          <p:cNvSpPr txBox="1"/>
          <p:nvPr/>
        </p:nvSpPr>
        <p:spPr>
          <a:xfrm>
            <a:off x="777240" y="5925312"/>
            <a:ext cx="3246120" cy="228600"/>
          </a:xfrm>
          <a:prstGeom prst="rect">
            <a:avLst/>
          </a:prstGeom>
          <a:noFill/>
        </p:spPr>
        <p:txBody>
          <a:bodyPr wrap="square" lIns="0" rIns="0" tIns="0" bIns="0">
            <a:spAutoFit/>
          </a:bodyPr>
          <a:lstStyle/>
          <a:p>
            <a:pPr algn="l"/>
            <a:r>
              <a:rPr sz="900" b="0">
                <a:solidFill>
                  <a:srgbClr val="22C55E"/>
                </a:solidFill>
                <a:latin typeface="Menlo"/>
              </a:rPr>
              <a:t>5 companies · 4 suppliers · score 0.85</a:t>
            </a:r>
          </a:p>
        </p:txBody>
      </p:sp>
      <p:sp>
        <p:nvSpPr>
          <p:cNvPr id="39" name="TextBox 38"/>
          <p:cNvSpPr txBox="1"/>
          <p:nvPr/>
        </p:nvSpPr>
        <p:spPr>
          <a:xfrm>
            <a:off x="777240" y="6126480"/>
            <a:ext cx="3246120" cy="228600"/>
          </a:xfrm>
          <a:prstGeom prst="rect">
            <a:avLst/>
          </a:prstGeom>
          <a:noFill/>
        </p:spPr>
        <p:txBody>
          <a:bodyPr wrap="square" lIns="0" rIns="0" tIns="0" bIns="0">
            <a:spAutoFit/>
          </a:bodyPr>
          <a:lstStyle/>
          <a:p>
            <a:pPr algn="l"/>
            <a:r>
              <a:rPr sz="950" b="0">
                <a:solidFill>
                  <a:srgbClr val="8BA3C7"/>
                </a:solidFill>
                <a:latin typeface="Helvetica Neue"/>
              </a:rPr>
              <a:t>Consolidate to Prinova USA — keep 3 backups.</a:t>
            </a:r>
          </a:p>
        </p:txBody>
      </p:sp>
      <p:sp>
        <p:nvSpPr>
          <p:cNvPr id="40" name="Rounded Rectangle 39"/>
          <p:cNvSpPr/>
          <p:nvPr/>
        </p:nvSpPr>
        <p:spPr>
          <a:xfrm>
            <a:off x="4389120" y="5623560"/>
            <a:ext cx="3703320" cy="731520"/>
          </a:xfrm>
          <a:prstGeom prst="roundRect">
            <a:avLst>
              <a:gd name="adj" fmla="val 6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389120" y="5623560"/>
            <a:ext cx="73152"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17720" y="5669280"/>
            <a:ext cx="3246120" cy="274320"/>
          </a:xfrm>
          <a:prstGeom prst="rect">
            <a:avLst/>
          </a:prstGeom>
          <a:noFill/>
        </p:spPr>
        <p:txBody>
          <a:bodyPr wrap="square" lIns="0" rIns="0" tIns="0" bIns="0">
            <a:spAutoFit/>
          </a:bodyPr>
          <a:lstStyle/>
          <a:p>
            <a:pPr algn="l"/>
            <a:r>
              <a:rPr sz="1200" b="1">
                <a:solidFill>
                  <a:srgbClr val="E9F4FF"/>
                </a:solidFill>
                <a:latin typeface="Helvetica Neue"/>
              </a:rPr>
              <a:t>Microcrystalline Cellulose</a:t>
            </a:r>
          </a:p>
        </p:txBody>
      </p:sp>
      <p:sp>
        <p:nvSpPr>
          <p:cNvPr id="43" name="TextBox 42"/>
          <p:cNvSpPr txBox="1"/>
          <p:nvPr/>
        </p:nvSpPr>
        <p:spPr>
          <a:xfrm>
            <a:off x="4617720" y="5925312"/>
            <a:ext cx="3246120" cy="228600"/>
          </a:xfrm>
          <a:prstGeom prst="rect">
            <a:avLst/>
          </a:prstGeom>
          <a:noFill/>
        </p:spPr>
        <p:txBody>
          <a:bodyPr wrap="square" lIns="0" rIns="0" tIns="0" bIns="0">
            <a:spAutoFit/>
          </a:bodyPr>
          <a:lstStyle/>
          <a:p>
            <a:pPr algn="l"/>
            <a:r>
              <a:rPr sz="900" b="0">
                <a:solidFill>
                  <a:srgbClr val="F59E0B"/>
                </a:solidFill>
                <a:latin typeface="Menlo"/>
              </a:rPr>
              <a:t>13 companies · 2 suppliers · downgrade fired</a:t>
            </a:r>
          </a:p>
        </p:txBody>
      </p:sp>
      <p:sp>
        <p:nvSpPr>
          <p:cNvPr id="44" name="TextBox 43"/>
          <p:cNvSpPr txBox="1"/>
          <p:nvPr/>
        </p:nvSpPr>
        <p:spPr>
          <a:xfrm>
            <a:off x="4617720" y="6126480"/>
            <a:ext cx="3246120" cy="228600"/>
          </a:xfrm>
          <a:prstGeom prst="rect">
            <a:avLst/>
          </a:prstGeom>
          <a:noFill/>
        </p:spPr>
        <p:txBody>
          <a:bodyPr wrap="square" lIns="0" rIns="0" tIns="0" bIns="0">
            <a:spAutoFit/>
          </a:bodyPr>
          <a:lstStyle/>
          <a:p>
            <a:pPr algn="l"/>
            <a:r>
              <a:rPr sz="950" b="0">
                <a:solidFill>
                  <a:srgbClr val="8BA3C7"/>
                </a:solidFill>
                <a:latin typeface="Helvetica Neue"/>
              </a:rPr>
              <a:t>Partial consolidation + qualified backup.</a:t>
            </a:r>
          </a:p>
        </p:txBody>
      </p:sp>
      <p:sp>
        <p:nvSpPr>
          <p:cNvPr id="45" name="Rounded Rectangle 44"/>
          <p:cNvSpPr/>
          <p:nvPr/>
        </p:nvSpPr>
        <p:spPr>
          <a:xfrm>
            <a:off x="8229600" y="5623560"/>
            <a:ext cx="3703320" cy="731520"/>
          </a:xfrm>
          <a:prstGeom prst="roundRect">
            <a:avLst>
              <a:gd name="adj" fmla="val 6000"/>
            </a:avLst>
          </a:prstGeom>
          <a:solidFill>
            <a:srgbClr val="111827"/>
          </a:solidFill>
          <a:ln w="12700">
            <a:solidFill>
              <a:srgbClr val="2633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29600" y="5623560"/>
            <a:ext cx="73152" cy="7315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58200" y="5669280"/>
            <a:ext cx="3246120" cy="274320"/>
          </a:xfrm>
          <a:prstGeom prst="rect">
            <a:avLst/>
          </a:prstGeom>
          <a:noFill/>
        </p:spPr>
        <p:txBody>
          <a:bodyPr wrap="square" lIns="0" rIns="0" tIns="0" bIns="0">
            <a:spAutoFit/>
          </a:bodyPr>
          <a:lstStyle/>
          <a:p>
            <a:pPr algn="l"/>
            <a:r>
              <a:rPr sz="1200" b="1">
                <a:solidFill>
                  <a:srgbClr val="E9F4FF"/>
                </a:solidFill>
                <a:latin typeface="Helvetica Neue"/>
              </a:rPr>
              <a:t>Maltodextrin</a:t>
            </a:r>
          </a:p>
        </p:txBody>
      </p:sp>
      <p:sp>
        <p:nvSpPr>
          <p:cNvPr id="48" name="TextBox 47"/>
          <p:cNvSpPr txBox="1"/>
          <p:nvPr/>
        </p:nvSpPr>
        <p:spPr>
          <a:xfrm>
            <a:off x="8458200" y="5925312"/>
            <a:ext cx="3246120" cy="228600"/>
          </a:xfrm>
          <a:prstGeom prst="rect">
            <a:avLst/>
          </a:prstGeom>
          <a:noFill/>
        </p:spPr>
        <p:txBody>
          <a:bodyPr wrap="square" lIns="0" rIns="0" tIns="0" bIns="0">
            <a:spAutoFit/>
          </a:bodyPr>
          <a:lstStyle/>
          <a:p>
            <a:pPr algn="l"/>
            <a:r>
              <a:rPr sz="900" b="0">
                <a:solidFill>
                  <a:srgbClr val="EF4444"/>
                </a:solidFill>
                <a:latin typeface="Menlo"/>
              </a:rPr>
              <a:t>1 supplier (Ingredion) · 8 companies · 8 products</a:t>
            </a:r>
          </a:p>
        </p:txBody>
      </p:sp>
      <p:sp>
        <p:nvSpPr>
          <p:cNvPr id="49" name="TextBox 48"/>
          <p:cNvSpPr txBox="1"/>
          <p:nvPr/>
        </p:nvSpPr>
        <p:spPr>
          <a:xfrm>
            <a:off x="8458200" y="6126480"/>
            <a:ext cx="3246120" cy="228600"/>
          </a:xfrm>
          <a:prstGeom prst="rect">
            <a:avLst/>
          </a:prstGeom>
          <a:noFill/>
        </p:spPr>
        <p:txBody>
          <a:bodyPr wrap="square" lIns="0" rIns="0" tIns="0" bIns="0">
            <a:spAutoFit/>
          </a:bodyPr>
          <a:lstStyle/>
          <a:p>
            <a:pPr algn="l"/>
            <a:r>
              <a:rPr sz="950" b="0">
                <a:solidFill>
                  <a:srgbClr val="8BA3C7"/>
                </a:solidFill>
                <a:latin typeface="Helvetica Neue"/>
              </a:rPr>
              <a:t>Qualify a second supplier.</a:t>
            </a:r>
          </a:p>
        </p:txBody>
      </p:sp>
      <p:sp>
        <p:nvSpPr>
          <p:cNvPr id="50" name="TextBox 49"/>
          <p:cNvSpPr txBox="1"/>
          <p:nvPr/>
        </p:nvSpPr>
        <p:spPr>
          <a:xfrm>
            <a:off x="548640" y="6446520"/>
            <a:ext cx="9144000" cy="274320"/>
          </a:xfrm>
          <a:prstGeom prst="rect">
            <a:avLst/>
          </a:prstGeom>
          <a:noFill/>
        </p:spPr>
        <p:txBody>
          <a:bodyPr wrap="square" lIns="0" rIns="0" tIns="0" bIns="0">
            <a:spAutoFit/>
          </a:bodyPr>
          <a:lstStyle/>
          <a:p>
            <a:pPr algn="l"/>
            <a:r>
              <a:rPr sz="900" b="0">
                <a:solidFill>
                  <a:srgbClr val="5A749A"/>
                </a:solidFill>
                <a:latin typeface="Helvetica Neue"/>
              </a:rPr>
              <a:t>AgnesTheSecond  ·  TUM.ai × Spherecast Makeathon 2026  ·  Trustworthy sourcing, not just cheaper sourcing.</a:t>
            </a:r>
          </a:p>
        </p:txBody>
      </p:sp>
      <p:sp>
        <p:nvSpPr>
          <p:cNvPr id="51" name="TextBox 50"/>
          <p:cNvSpPr txBox="1"/>
          <p:nvPr/>
        </p:nvSpPr>
        <p:spPr>
          <a:xfrm>
            <a:off x="10058400" y="6446520"/>
            <a:ext cx="1828800" cy="274320"/>
          </a:xfrm>
          <a:prstGeom prst="rect">
            <a:avLst/>
          </a:prstGeom>
          <a:noFill/>
        </p:spPr>
        <p:txBody>
          <a:bodyPr wrap="square" lIns="0" rIns="0" tIns="0" bIns="0">
            <a:spAutoFit/>
          </a:bodyPr>
          <a:lstStyle/>
          <a:p>
            <a:pPr algn="r"/>
            <a:r>
              <a:rPr sz="900" b="0">
                <a:solidFill>
                  <a:srgbClr val="5A749A"/>
                </a:solidFill>
                <a:latin typeface="Helvetica Neue"/>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
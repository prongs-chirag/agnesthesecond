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 we're the team behind Agnes The Second. We built a supply-chain intelligence platform for CPG companies that does two things most tools refuse to do: it balances cost against risk honestly, and every number we show you is a pure function of your data — not an LLM guessing.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Procurement teams live inside a real tension. Consolidation gives you leverage. Diversification protects you when a supplier has a factory fire or a recall. Legacy tools tell you to pick one. The new wave of AI tools just hallucinate confident-sounding numbers with no audit trail. Neither approach survives a CFO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separates us from the AI-wrapper tools. Every score Agnes shows you is a deterministic function of your data. Consolidation detection, risk scoring, the weighted framework — all pure Python. Same inputs give you the same outputs, byte-for-byte, on every run. 168 tests enforce this. We use LLMs exactly where they help and nowhere they can hurt. The chat agent dispatches real SQL queries against your database — it doesn't invent answers, it routes questions to deterministic lookups. When we optionally polish a recommendation summary, the LLM can only rewrite the prose. It cannot change a grade, a score, or a supplier. That's a hard boundary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scoring framework. Every recommendation is a weighted sum of five dimensions. Leverage, evidence, compliance, diversification, feasibility. You can see the weights. You can check the math. Here's the load-bearing rule: when consolidating would leave fewer than three suppliers for that ingredient across the entire network, the framework automatically downgrades the recommendation. Not a heuristic, not a prompt — a hard rule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dataset — 61 companies, 357 ingredients, 40 suppliers, $1.52 billion in spend — 124 of 125 consolidation opportunities trigger the concentration-risk veto. A naive tool would tell you to consolidate all 125. Agnes tells you which one is actually safe.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Visualised: every dot is one consolidation opportunity in the dataset. 124 red, 1 green. A naive tool would recommend consolidating on all 125. Agnes says: on 124 of these, keep a qualified backup supplier. That's the defensible position.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setup for the live demo. Every other tool in this space looks like the card on the left: big number, confident recommendation, no audit trail. Agnes shows you the tension matrix, the grade, the veto reason, and the exact math. Same ingredient. Same database. Two completely different calls. After this slide I'll switch to the running app and walk through it live.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this in a weekend. Four people. One brain. Happy to walk you through the code, the data, or the math — whichever you want to dig into first.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31720"/>
            <a:ext cx="1097280" cy="8229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0"/>
            <a:ext cx="10972800" cy="1463040"/>
          </a:xfrm>
          <a:prstGeom prst="rect">
            <a:avLst/>
          </a:prstGeom>
          <a:noFill/>
        </p:spPr>
        <p:txBody>
          <a:bodyPr wrap="square" lIns="0" rIns="0" tIns="0" bIns="0">
            <a:spAutoFit/>
          </a:bodyPr>
          <a:lstStyle/>
          <a:p>
            <a:pPr algn="l">
              <a:lnSpc>
                <a:spcPct val="95000"/>
              </a:lnSpc>
            </a:pPr>
            <a:r>
              <a:rPr sz="8400" b="1">
                <a:solidFill>
                  <a:srgbClr val="E9F4FF"/>
                </a:solidFill>
                <a:latin typeface="Helvetica Neue"/>
              </a:rPr>
              <a:t>AgnesTheSecond</a:t>
            </a:r>
          </a:p>
        </p:txBody>
      </p:sp>
      <p:sp>
        <p:nvSpPr>
          <p:cNvPr id="5" name="TextBox 4"/>
          <p:cNvSpPr txBox="1"/>
          <p:nvPr/>
        </p:nvSpPr>
        <p:spPr>
          <a:xfrm>
            <a:off x="548640" y="3977639"/>
            <a:ext cx="10972800" cy="822960"/>
          </a:xfrm>
          <a:prstGeom prst="rect">
            <a:avLst/>
          </a:prstGeom>
          <a:noFill/>
        </p:spPr>
        <p:txBody>
          <a:bodyPr wrap="square" lIns="0" rIns="0" tIns="0" bIns="0">
            <a:spAutoFit/>
          </a:bodyPr>
          <a:lstStyle/>
          <a:p>
            <a:pPr algn="l"/>
            <a:r>
              <a:rPr sz="2600" b="0">
                <a:solidFill>
                  <a:srgbClr val="00D4AA"/>
                </a:solidFill>
                <a:latin typeface="Helvetica Neue"/>
              </a:rPr>
              <a:t>Supply chain intelligence that shows its work.</a:t>
            </a:r>
          </a:p>
        </p:txBody>
      </p:sp>
      <p:sp>
        <p:nvSpPr>
          <p:cNvPr id="6" name="TextBox 5"/>
          <p:cNvSpPr txBox="1"/>
          <p:nvPr/>
        </p:nvSpPr>
        <p:spPr>
          <a:xfrm>
            <a:off x="548640" y="4709160"/>
            <a:ext cx="10972800" cy="457200"/>
          </a:xfrm>
          <a:prstGeom prst="rect">
            <a:avLst/>
          </a:prstGeom>
          <a:noFill/>
        </p:spPr>
        <p:txBody>
          <a:bodyPr wrap="square" lIns="0" rIns="0" tIns="0" bIns="0">
            <a:spAutoFit/>
          </a:bodyPr>
          <a:lstStyle/>
          <a:p>
            <a:pPr algn="l"/>
            <a:r>
              <a:rPr sz="1500" b="0">
                <a:solidFill>
                  <a:srgbClr val="8BA3C7"/>
                </a:solidFill>
                <a:latin typeface="Helvetica Neue"/>
              </a:rPr>
              <a:t>Maximum leverage.  Minimum concentration risk.  Deterministic by design.</a:t>
            </a:r>
          </a:p>
        </p:txBody>
      </p:sp>
      <p:sp>
        <p:nvSpPr>
          <p:cNvPr id="7" name="TextBox 6"/>
          <p:cNvSpPr txBox="1"/>
          <p:nvPr/>
        </p:nvSpPr>
        <p:spPr>
          <a:xfrm>
            <a:off x="548640" y="6263640"/>
            <a:ext cx="6400800" cy="274320"/>
          </a:xfrm>
          <a:prstGeom prst="rect">
            <a:avLst/>
          </a:prstGeom>
          <a:noFill/>
        </p:spPr>
        <p:txBody>
          <a:bodyPr wrap="square" lIns="0" rIns="0" tIns="0" bIns="0">
            <a:spAutoFit/>
          </a:bodyPr>
          <a:lstStyle/>
          <a:p>
            <a:pPr algn="l"/>
            <a:r>
              <a:rPr sz="1100" b="1">
                <a:solidFill>
                  <a:srgbClr val="5A749A"/>
                </a:solidFill>
                <a:latin typeface="Helvetica Neue"/>
              </a:rPr>
              <a:t>TUM.ai × Spherecast Makeathon 2026</a:t>
            </a:r>
          </a:p>
        </p:txBody>
      </p:sp>
      <p:sp>
        <p:nvSpPr>
          <p:cNvPr id="8" name="TextBox 7"/>
          <p:cNvSpPr txBox="1"/>
          <p:nvPr/>
        </p:nvSpPr>
        <p:spPr>
          <a:xfrm>
            <a:off x="10058400" y="6263640"/>
            <a:ext cx="1828800" cy="274320"/>
          </a:xfrm>
          <a:prstGeom prst="rect">
            <a:avLst/>
          </a:prstGeom>
          <a:noFill/>
        </p:spPr>
        <p:txBody>
          <a:bodyPr wrap="square" lIns="0" rIns="0" tIns="0" bIns="0">
            <a:spAutoFit/>
          </a:bodyPr>
          <a:lstStyle/>
          <a:p>
            <a:pPr algn="r"/>
            <a:r>
              <a:rPr sz="1100" b="0">
                <a:solidFill>
                  <a:srgbClr val="5A749A"/>
                </a:solidFill>
                <a:latin typeface="Helvetica Neue"/>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lIns="0" rIns="0" tIns="0" bIns="0">
            <a:spAutoFit/>
          </a:bodyPr>
          <a:lstStyle/>
          <a:p>
            <a:pPr algn="l"/>
            <a:r>
              <a:rPr sz="1100" b="1">
                <a:solidFill>
                  <a:srgbClr val="F59E0B"/>
                </a:solidFill>
                <a:latin typeface="Helvetica Neue"/>
              </a:rPr>
              <a:t>THE PROBLEM</a:t>
            </a:r>
          </a:p>
        </p:txBody>
      </p:sp>
      <p:sp>
        <p:nvSpPr>
          <p:cNvPr id="4" name="TextBox 3"/>
          <p:cNvSpPr txBox="1"/>
          <p:nvPr/>
        </p:nvSpPr>
        <p:spPr>
          <a:xfrm>
            <a:off x="548640" y="777240"/>
            <a:ext cx="10972800" cy="822960"/>
          </a:xfrm>
          <a:prstGeom prst="rect">
            <a:avLst/>
          </a:prstGeom>
          <a:noFill/>
        </p:spPr>
        <p:txBody>
          <a:bodyPr wrap="square" lIns="0" rIns="0" tIns="0" bIns="0">
            <a:spAutoFit/>
          </a:bodyPr>
          <a:lstStyle/>
          <a:p>
            <a:pPr algn="l"/>
            <a:r>
              <a:rPr sz="3200" b="1">
                <a:solidFill>
                  <a:srgbClr val="E9F4FF"/>
                </a:solidFill>
                <a:latin typeface="Helvetica Neue"/>
              </a:rPr>
              <a:t>Procurement tools pick the wrong trade-off.</a:t>
            </a:r>
          </a:p>
        </p:txBody>
      </p:sp>
      <p:sp>
        <p:nvSpPr>
          <p:cNvPr id="5" name="Rectangle 4"/>
          <p:cNvSpPr/>
          <p:nvPr/>
        </p:nvSpPr>
        <p:spPr>
          <a:xfrm>
            <a:off x="548640" y="1645920"/>
            <a:ext cx="457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31720"/>
            <a:ext cx="6400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2103120"/>
            <a:ext cx="9144000" cy="640080"/>
          </a:xfrm>
          <a:prstGeom prst="rect">
            <a:avLst/>
          </a:prstGeom>
          <a:noFill/>
        </p:spPr>
        <p:txBody>
          <a:bodyPr wrap="square" lIns="0" rIns="0" tIns="0" bIns="0">
            <a:spAutoFit/>
          </a:bodyPr>
          <a:lstStyle/>
          <a:p>
            <a:pPr algn="l"/>
            <a:r>
              <a:rPr sz="2800" b="1">
                <a:solidFill>
                  <a:srgbClr val="E9F4FF"/>
                </a:solidFill>
                <a:latin typeface="Helvetica Neue"/>
              </a:rPr>
              <a:t>"Consolidate — save money."</a:t>
            </a:r>
          </a:p>
        </p:txBody>
      </p:sp>
      <p:sp>
        <p:nvSpPr>
          <p:cNvPr id="8" name="TextBox 7"/>
          <p:cNvSpPr txBox="1"/>
          <p:nvPr/>
        </p:nvSpPr>
        <p:spPr>
          <a:xfrm>
            <a:off x="10332720" y="2221992"/>
            <a:ext cx="1554480" cy="365760"/>
          </a:xfrm>
          <a:prstGeom prst="rect">
            <a:avLst/>
          </a:prstGeom>
          <a:noFill/>
        </p:spPr>
        <p:txBody>
          <a:bodyPr wrap="square" lIns="0" rIns="0" tIns="0" bIns="0">
            <a:spAutoFit/>
          </a:bodyPr>
          <a:lstStyle/>
          <a:p>
            <a:pPr algn="r"/>
            <a:r>
              <a:rPr sz="1100" b="1">
                <a:solidFill>
                  <a:srgbClr val="EF4444"/>
                </a:solidFill>
                <a:latin typeface="Helvetica Neue"/>
              </a:rPr>
              <a:t>legacy</a:t>
            </a:r>
          </a:p>
        </p:txBody>
      </p:sp>
      <p:sp>
        <p:nvSpPr>
          <p:cNvPr id="9" name="Rectangle 8"/>
          <p:cNvSpPr/>
          <p:nvPr/>
        </p:nvSpPr>
        <p:spPr>
          <a:xfrm>
            <a:off x="548640" y="3429000"/>
            <a:ext cx="6400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3200400"/>
            <a:ext cx="9144000" cy="640080"/>
          </a:xfrm>
          <a:prstGeom prst="rect">
            <a:avLst/>
          </a:prstGeom>
          <a:noFill/>
        </p:spPr>
        <p:txBody>
          <a:bodyPr wrap="square" lIns="0" rIns="0" tIns="0" bIns="0">
            <a:spAutoFit/>
          </a:bodyPr>
          <a:lstStyle/>
          <a:p>
            <a:pPr algn="l"/>
            <a:r>
              <a:rPr sz="2800" b="1">
                <a:solidFill>
                  <a:srgbClr val="E9F4FF"/>
                </a:solidFill>
                <a:latin typeface="Helvetica Neue"/>
              </a:rPr>
              <a:t>"Diversify — reduce risk."</a:t>
            </a:r>
          </a:p>
        </p:txBody>
      </p:sp>
      <p:sp>
        <p:nvSpPr>
          <p:cNvPr id="11" name="TextBox 10"/>
          <p:cNvSpPr txBox="1"/>
          <p:nvPr/>
        </p:nvSpPr>
        <p:spPr>
          <a:xfrm>
            <a:off x="10332720" y="3319272"/>
            <a:ext cx="1554480" cy="365760"/>
          </a:xfrm>
          <a:prstGeom prst="rect">
            <a:avLst/>
          </a:prstGeom>
          <a:noFill/>
        </p:spPr>
        <p:txBody>
          <a:bodyPr wrap="square" lIns="0" rIns="0" tIns="0" bIns="0">
            <a:spAutoFit/>
          </a:bodyPr>
          <a:lstStyle/>
          <a:p>
            <a:pPr algn="r"/>
            <a:r>
              <a:rPr sz="1100" b="1">
                <a:solidFill>
                  <a:srgbClr val="EF4444"/>
                </a:solidFill>
                <a:latin typeface="Helvetica Neue"/>
              </a:rPr>
              <a:t>legacy</a:t>
            </a:r>
          </a:p>
        </p:txBody>
      </p:sp>
      <p:sp>
        <p:nvSpPr>
          <p:cNvPr id="12" name="Rectangle 11"/>
          <p:cNvSpPr/>
          <p:nvPr/>
        </p:nvSpPr>
        <p:spPr>
          <a:xfrm>
            <a:off x="548640" y="4526280"/>
            <a:ext cx="6400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17320" y="4297680"/>
            <a:ext cx="9144000" cy="640080"/>
          </a:xfrm>
          <a:prstGeom prst="rect">
            <a:avLst/>
          </a:prstGeom>
          <a:noFill/>
        </p:spPr>
        <p:txBody>
          <a:bodyPr wrap="square" lIns="0" rIns="0" tIns="0" bIns="0">
            <a:spAutoFit/>
          </a:bodyPr>
          <a:lstStyle/>
          <a:p>
            <a:pPr algn="l"/>
            <a:r>
              <a:rPr sz="2800" b="1">
                <a:solidFill>
                  <a:srgbClr val="E9F4FF"/>
                </a:solidFill>
                <a:latin typeface="Helvetica Neue"/>
              </a:rPr>
              <a:t>"Here's a GPT recommendation."</a:t>
            </a:r>
          </a:p>
        </p:txBody>
      </p:sp>
      <p:sp>
        <p:nvSpPr>
          <p:cNvPr id="14" name="TextBox 13"/>
          <p:cNvSpPr txBox="1"/>
          <p:nvPr/>
        </p:nvSpPr>
        <p:spPr>
          <a:xfrm>
            <a:off x="10332720" y="4416552"/>
            <a:ext cx="1554480" cy="365760"/>
          </a:xfrm>
          <a:prstGeom prst="rect">
            <a:avLst/>
          </a:prstGeom>
          <a:noFill/>
        </p:spPr>
        <p:txBody>
          <a:bodyPr wrap="square" lIns="0" rIns="0" tIns="0" bIns="0">
            <a:spAutoFit/>
          </a:bodyPr>
          <a:lstStyle/>
          <a:p>
            <a:pPr algn="r"/>
            <a:r>
              <a:rPr sz="1100" b="1">
                <a:solidFill>
                  <a:srgbClr val="EF4444"/>
                </a:solidFill>
                <a:latin typeface="Helvetica Neue"/>
              </a:rPr>
              <a:t>vibes</a:t>
            </a:r>
          </a:p>
        </p:txBody>
      </p:sp>
      <p:sp>
        <p:nvSpPr>
          <p:cNvPr id="15" name="Rounded Rectangle 14"/>
          <p:cNvSpPr/>
          <p:nvPr/>
        </p:nvSpPr>
        <p:spPr>
          <a:xfrm>
            <a:off x="548640" y="5623560"/>
            <a:ext cx="11155680" cy="640080"/>
          </a:xfrm>
          <a:prstGeom prst="roundRect">
            <a:avLst>
              <a:gd name="adj" fmla="val 20000"/>
            </a:avLst>
          </a:prstGeom>
          <a:solidFill>
            <a:srgbClr val="111827"/>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789920" cy="457200"/>
          </a:xfrm>
          <a:prstGeom prst="rect">
            <a:avLst/>
          </a:prstGeom>
          <a:noFill/>
        </p:spPr>
        <p:txBody>
          <a:bodyPr wrap="none">
            <a:spAutoFit/>
          </a:bodyPr>
          <a:lstStyle/>
          <a:p>
            <a:r>
              <a:rPr sz="2000" b="1">
                <a:solidFill>
                  <a:srgbClr val="F59E0B"/>
                </a:solidFill>
                <a:latin typeface="Helvetica Neue"/>
              </a:rPr>
              <a:t>None of these survive a CFO conversation.</a:t>
            </a:r>
          </a:p>
        </p:txBody>
      </p:sp>
      <p:sp>
        <p:nvSpPr>
          <p:cNvPr id="17" name="TextBox 16"/>
          <p:cNvSpPr txBox="1"/>
          <p:nvPr/>
        </p:nvSpPr>
        <p:spPr>
          <a:xfrm>
            <a:off x="548640" y="6400800"/>
            <a:ext cx="5486400" cy="274320"/>
          </a:xfrm>
          <a:prstGeom prst="rect">
            <a:avLst/>
          </a:prstGeom>
          <a:noFill/>
        </p:spPr>
        <p:txBody>
          <a:bodyPr wrap="square" lIns="0" rIns="0" tIns="0" bIns="0">
            <a:spAutoFit/>
          </a:bodyPr>
          <a:lstStyle/>
          <a:p>
            <a:pPr algn="l"/>
            <a:r>
              <a:rPr sz="900" b="0">
                <a:solidFill>
                  <a:srgbClr val="5A749A"/>
                </a:solidFill>
                <a:latin typeface="Helvetica Neue"/>
              </a:rPr>
              <a:t>AgnesTheSecond  ·  TUM.ai × Spherecast Makeathon 2026</a:t>
            </a:r>
          </a:p>
        </p:txBody>
      </p:sp>
      <p:sp>
        <p:nvSpPr>
          <p:cNvPr id="18" name="TextBox 17"/>
          <p:cNvSpPr txBox="1"/>
          <p:nvPr/>
        </p:nvSpPr>
        <p:spPr>
          <a:xfrm>
            <a:off x="10058400" y="6400800"/>
            <a:ext cx="1828800" cy="274320"/>
          </a:xfrm>
          <a:prstGeom prst="rect">
            <a:avLst/>
          </a:prstGeom>
          <a:noFill/>
        </p:spPr>
        <p:txBody>
          <a:bodyPr wrap="square" lIns="0" rIns="0" tIns="0" bIns="0">
            <a:spAutoFit/>
          </a:bodyPr>
          <a:lstStyle/>
          <a:p>
            <a:pPr algn="r"/>
            <a:r>
              <a:rPr sz="900" b="0">
                <a:solidFill>
                  <a:srgbClr val="5A749A"/>
                </a:solidFill>
                <a:latin typeface="Helvetica Neue"/>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lIns="0" rIns="0" tIns="0" bIns="0">
            <a:spAutoFit/>
          </a:bodyPr>
          <a:lstStyle/>
          <a:p>
            <a:pPr algn="l"/>
            <a:r>
              <a:rPr sz="1100" b="1">
                <a:solidFill>
                  <a:srgbClr val="00D4AA"/>
                </a:solidFill>
                <a:latin typeface="Helvetica Neue"/>
              </a:rPr>
              <a:t>DETERMINISTIC BY DESIGN</a:t>
            </a:r>
          </a:p>
        </p:txBody>
      </p:sp>
      <p:sp>
        <p:nvSpPr>
          <p:cNvPr id="4" name="TextBox 3"/>
          <p:cNvSpPr txBox="1"/>
          <p:nvPr/>
        </p:nvSpPr>
        <p:spPr>
          <a:xfrm>
            <a:off x="548640" y="777240"/>
            <a:ext cx="10972800" cy="822960"/>
          </a:xfrm>
          <a:prstGeom prst="rect">
            <a:avLst/>
          </a:prstGeom>
          <a:noFill/>
        </p:spPr>
        <p:txBody>
          <a:bodyPr wrap="square" lIns="0" rIns="0" tIns="0" bIns="0">
            <a:spAutoFit/>
          </a:bodyPr>
          <a:lstStyle/>
          <a:p>
            <a:pPr algn="l"/>
            <a:r>
              <a:rPr sz="3200" b="1">
                <a:solidFill>
                  <a:srgbClr val="E9F4FF"/>
                </a:solidFill>
                <a:latin typeface="Helvetica Neue"/>
              </a:rPr>
              <a:t>Every score is pure math.</a:t>
            </a:r>
          </a:p>
        </p:txBody>
      </p:sp>
      <p:sp>
        <p:nvSpPr>
          <p:cNvPr id="5" name="TextBox 4"/>
          <p:cNvSpPr txBox="1"/>
          <p:nvPr/>
        </p:nvSpPr>
        <p:spPr>
          <a:xfrm>
            <a:off x="548640" y="1645920"/>
            <a:ext cx="10972800" cy="457200"/>
          </a:xfrm>
          <a:prstGeom prst="rect">
            <a:avLst/>
          </a:prstGeom>
          <a:noFill/>
        </p:spPr>
        <p:txBody>
          <a:bodyPr wrap="square" lIns="0" rIns="0" tIns="0" bIns="0">
            <a:spAutoFit/>
          </a:bodyPr>
          <a:lstStyle/>
          <a:p>
            <a:pPr algn="l"/>
            <a:r>
              <a:rPr sz="1800" b="0">
                <a:solidFill>
                  <a:srgbClr val="00D4AA"/>
                </a:solidFill>
                <a:latin typeface="Helvetica Neue"/>
              </a:rPr>
              <a:t>Same inputs → same outputs.   Bit-for-bit.   Always.</a:t>
            </a:r>
          </a:p>
        </p:txBody>
      </p:sp>
      <p:sp>
        <p:nvSpPr>
          <p:cNvPr id="6" name="TextBox 5"/>
          <p:cNvSpPr txBox="1"/>
          <p:nvPr/>
        </p:nvSpPr>
        <p:spPr>
          <a:xfrm>
            <a:off x="548640" y="2468880"/>
            <a:ext cx="5486400" cy="365760"/>
          </a:xfrm>
          <a:prstGeom prst="rect">
            <a:avLst/>
          </a:prstGeom>
          <a:noFill/>
        </p:spPr>
        <p:txBody>
          <a:bodyPr wrap="square" lIns="0" rIns="0" tIns="0" bIns="0">
            <a:spAutoFit/>
          </a:bodyPr>
          <a:lstStyle/>
          <a:p>
            <a:pPr algn="l"/>
            <a:r>
              <a:rPr sz="1100" b="1">
                <a:solidFill>
                  <a:srgbClr val="5A749A"/>
                </a:solidFill>
                <a:latin typeface="Helvetica Neue"/>
              </a:rPr>
              <a:t>PURE RULES</a:t>
            </a:r>
          </a:p>
        </p:txBody>
      </p:sp>
      <p:sp>
        <p:nvSpPr>
          <p:cNvPr id="7" name="Oval 6"/>
          <p:cNvSpPr/>
          <p:nvPr/>
        </p:nvSpPr>
        <p:spPr>
          <a:xfrm>
            <a:off x="548640" y="2990088"/>
            <a:ext cx="164592" cy="164592"/>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880360"/>
            <a:ext cx="5029200" cy="457200"/>
          </a:xfrm>
          <a:prstGeom prst="rect">
            <a:avLst/>
          </a:prstGeom>
          <a:noFill/>
        </p:spPr>
        <p:txBody>
          <a:bodyPr wrap="square" lIns="0" rIns="0" tIns="0" bIns="0">
            <a:spAutoFit/>
          </a:bodyPr>
          <a:lstStyle/>
          <a:p>
            <a:pPr algn="l"/>
            <a:r>
              <a:rPr sz="1700" b="0">
                <a:solidFill>
                  <a:srgbClr val="E9F4FF"/>
                </a:solidFill>
                <a:latin typeface="Helvetica Neue"/>
              </a:rPr>
              <a:t>Consolidation detection</a:t>
            </a:r>
          </a:p>
        </p:txBody>
      </p:sp>
      <p:sp>
        <p:nvSpPr>
          <p:cNvPr id="9" name="Oval 8"/>
          <p:cNvSpPr/>
          <p:nvPr/>
        </p:nvSpPr>
        <p:spPr>
          <a:xfrm>
            <a:off x="548640" y="3493008"/>
            <a:ext cx="164592" cy="164592"/>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83280"/>
            <a:ext cx="5029200" cy="457200"/>
          </a:xfrm>
          <a:prstGeom prst="rect">
            <a:avLst/>
          </a:prstGeom>
          <a:noFill/>
        </p:spPr>
        <p:txBody>
          <a:bodyPr wrap="square" lIns="0" rIns="0" tIns="0" bIns="0">
            <a:spAutoFit/>
          </a:bodyPr>
          <a:lstStyle/>
          <a:p>
            <a:pPr algn="l"/>
            <a:r>
              <a:rPr sz="1700" b="0">
                <a:solidFill>
                  <a:srgbClr val="E9F4FF"/>
                </a:solidFill>
                <a:latin typeface="Helvetica Neue"/>
              </a:rPr>
              <a:t>Risk assessment (5 risk types)</a:t>
            </a:r>
          </a:p>
        </p:txBody>
      </p:sp>
      <p:sp>
        <p:nvSpPr>
          <p:cNvPr id="11" name="Oval 10"/>
          <p:cNvSpPr/>
          <p:nvPr/>
        </p:nvSpPr>
        <p:spPr>
          <a:xfrm>
            <a:off x="548640" y="3995928"/>
            <a:ext cx="164592" cy="164592"/>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886200"/>
            <a:ext cx="5029200" cy="457200"/>
          </a:xfrm>
          <a:prstGeom prst="rect">
            <a:avLst/>
          </a:prstGeom>
          <a:noFill/>
        </p:spPr>
        <p:txBody>
          <a:bodyPr wrap="square" lIns="0" rIns="0" tIns="0" bIns="0">
            <a:spAutoFit/>
          </a:bodyPr>
          <a:lstStyle/>
          <a:p>
            <a:pPr algn="l"/>
            <a:r>
              <a:rPr sz="1700" b="0">
                <a:solidFill>
                  <a:srgbClr val="E9F4FF"/>
                </a:solidFill>
                <a:latin typeface="Helvetica Neue"/>
              </a:rPr>
              <a:t>5-dimension scoring framework</a:t>
            </a:r>
          </a:p>
        </p:txBody>
      </p:sp>
      <p:sp>
        <p:nvSpPr>
          <p:cNvPr id="13" name="Oval 12"/>
          <p:cNvSpPr/>
          <p:nvPr/>
        </p:nvSpPr>
        <p:spPr>
          <a:xfrm>
            <a:off x="548640" y="4498848"/>
            <a:ext cx="164592" cy="164592"/>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89120"/>
            <a:ext cx="5029200" cy="457200"/>
          </a:xfrm>
          <a:prstGeom prst="rect">
            <a:avLst/>
          </a:prstGeom>
          <a:noFill/>
        </p:spPr>
        <p:txBody>
          <a:bodyPr wrap="square" lIns="0" rIns="0" tIns="0" bIns="0">
            <a:spAutoFit/>
          </a:bodyPr>
          <a:lstStyle/>
          <a:p>
            <a:pPr algn="l"/>
            <a:r>
              <a:rPr sz="1700" b="0">
                <a:solidFill>
                  <a:srgbClr val="E9F4FF"/>
                </a:solidFill>
                <a:latin typeface="Helvetica Neue"/>
              </a:rPr>
              <a:t>Grade mapping + monopoly veto</a:t>
            </a:r>
          </a:p>
        </p:txBody>
      </p:sp>
      <p:sp>
        <p:nvSpPr>
          <p:cNvPr id="15" name="TextBox 14"/>
          <p:cNvSpPr txBox="1"/>
          <p:nvPr/>
        </p:nvSpPr>
        <p:spPr>
          <a:xfrm>
            <a:off x="6400800" y="2468880"/>
            <a:ext cx="5486400" cy="365760"/>
          </a:xfrm>
          <a:prstGeom prst="rect">
            <a:avLst/>
          </a:prstGeom>
          <a:noFill/>
        </p:spPr>
        <p:txBody>
          <a:bodyPr wrap="square" lIns="0" rIns="0" tIns="0" bIns="0">
            <a:spAutoFit/>
          </a:bodyPr>
          <a:lstStyle/>
          <a:p>
            <a:pPr algn="l"/>
            <a:r>
              <a:rPr sz="1100" b="1">
                <a:solidFill>
                  <a:srgbClr val="5A749A"/>
                </a:solidFill>
                <a:latin typeface="Helvetica Neue"/>
              </a:rPr>
              <a:t>LLMs — SCOPED AND BOUNDED</a:t>
            </a:r>
          </a:p>
        </p:txBody>
      </p:sp>
      <p:sp>
        <p:nvSpPr>
          <p:cNvPr id="16" name="Oval 15"/>
          <p:cNvSpPr/>
          <p:nvPr/>
        </p:nvSpPr>
        <p:spPr>
          <a:xfrm>
            <a:off x="6400800" y="2990088"/>
            <a:ext cx="164592" cy="164592"/>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2880360"/>
            <a:ext cx="5303520" cy="365760"/>
          </a:xfrm>
          <a:prstGeom prst="rect">
            <a:avLst/>
          </a:prstGeom>
          <a:noFill/>
        </p:spPr>
        <p:txBody>
          <a:bodyPr wrap="square" lIns="0" rIns="0" tIns="0" bIns="0">
            <a:spAutoFit/>
          </a:bodyPr>
          <a:lstStyle/>
          <a:p>
            <a:pPr algn="l"/>
            <a:r>
              <a:rPr sz="1700" b="1">
                <a:solidFill>
                  <a:srgbClr val="E9F4FF"/>
                </a:solidFill>
                <a:latin typeface="Helvetica Neue"/>
              </a:rPr>
              <a:t>SQL dispatch</a:t>
            </a:r>
          </a:p>
        </p:txBody>
      </p:sp>
      <p:sp>
        <p:nvSpPr>
          <p:cNvPr id="18" name="TextBox 17"/>
          <p:cNvSpPr txBox="1"/>
          <p:nvPr/>
        </p:nvSpPr>
        <p:spPr>
          <a:xfrm>
            <a:off x="6720840" y="3246120"/>
            <a:ext cx="5303520" cy="365760"/>
          </a:xfrm>
          <a:prstGeom prst="rect">
            <a:avLst/>
          </a:prstGeom>
          <a:noFill/>
        </p:spPr>
        <p:txBody>
          <a:bodyPr wrap="square" lIns="0" rIns="0" tIns="0" bIns="0">
            <a:spAutoFit/>
          </a:bodyPr>
          <a:lstStyle/>
          <a:p>
            <a:pPr algn="l"/>
            <a:r>
              <a:rPr sz="1300" b="0">
                <a:solidFill>
                  <a:srgbClr val="8BA3C7"/>
                </a:solidFill>
                <a:latin typeface="Helvetica Neue"/>
              </a:rPr>
              <a:t>agent runs queries; data comes from DB, not model</a:t>
            </a:r>
          </a:p>
        </p:txBody>
      </p:sp>
      <p:sp>
        <p:nvSpPr>
          <p:cNvPr id="19" name="Oval 18"/>
          <p:cNvSpPr/>
          <p:nvPr/>
        </p:nvSpPr>
        <p:spPr>
          <a:xfrm>
            <a:off x="6400800" y="3675888"/>
            <a:ext cx="164592" cy="164592"/>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3566160"/>
            <a:ext cx="5303520" cy="365760"/>
          </a:xfrm>
          <a:prstGeom prst="rect">
            <a:avLst/>
          </a:prstGeom>
          <a:noFill/>
        </p:spPr>
        <p:txBody>
          <a:bodyPr wrap="square" lIns="0" rIns="0" tIns="0" bIns="0">
            <a:spAutoFit/>
          </a:bodyPr>
          <a:lstStyle/>
          <a:p>
            <a:pPr algn="l"/>
            <a:r>
              <a:rPr sz="1700" b="1">
                <a:solidFill>
                  <a:srgbClr val="E9F4FF"/>
                </a:solidFill>
                <a:latin typeface="Helvetica Neue"/>
              </a:rPr>
              <a:t>Evidence extraction</a:t>
            </a:r>
          </a:p>
        </p:txBody>
      </p:sp>
      <p:sp>
        <p:nvSpPr>
          <p:cNvPr id="21" name="TextBox 20"/>
          <p:cNvSpPr txBox="1"/>
          <p:nvPr/>
        </p:nvSpPr>
        <p:spPr>
          <a:xfrm>
            <a:off x="6720840" y="3931920"/>
            <a:ext cx="5303520" cy="365760"/>
          </a:xfrm>
          <a:prstGeom prst="rect">
            <a:avLst/>
          </a:prstGeom>
          <a:noFill/>
        </p:spPr>
        <p:txBody>
          <a:bodyPr wrap="square" lIns="0" rIns="0" tIns="0" bIns="0">
            <a:spAutoFit/>
          </a:bodyPr>
          <a:lstStyle/>
          <a:p>
            <a:pPr algn="l"/>
            <a:r>
              <a:rPr sz="1300" b="0">
                <a:solidFill>
                  <a:srgbClr val="8BA3C7"/>
                </a:solidFill>
                <a:latin typeface="Helvetica Neue"/>
              </a:rPr>
              <a:t>grounded citations, schema-validated</a:t>
            </a:r>
          </a:p>
        </p:txBody>
      </p:sp>
      <p:sp>
        <p:nvSpPr>
          <p:cNvPr id="22" name="Oval 21"/>
          <p:cNvSpPr/>
          <p:nvPr/>
        </p:nvSpPr>
        <p:spPr>
          <a:xfrm>
            <a:off x="6400800" y="4361688"/>
            <a:ext cx="164592" cy="164592"/>
          </a:xfrm>
          <a:prstGeom prst="ellipse">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4251960"/>
            <a:ext cx="5303520" cy="365760"/>
          </a:xfrm>
          <a:prstGeom prst="rect">
            <a:avLst/>
          </a:prstGeom>
          <a:noFill/>
        </p:spPr>
        <p:txBody>
          <a:bodyPr wrap="square" lIns="0" rIns="0" tIns="0" bIns="0">
            <a:spAutoFit/>
          </a:bodyPr>
          <a:lstStyle/>
          <a:p>
            <a:pPr algn="l"/>
            <a:r>
              <a:rPr sz="1700" b="1">
                <a:solidFill>
                  <a:srgbClr val="E9F4FF"/>
                </a:solidFill>
                <a:latin typeface="Helvetica Neue"/>
              </a:rPr>
              <a:t>Prose polish</a:t>
            </a:r>
          </a:p>
        </p:txBody>
      </p:sp>
      <p:sp>
        <p:nvSpPr>
          <p:cNvPr id="24" name="TextBox 23"/>
          <p:cNvSpPr txBox="1"/>
          <p:nvPr/>
        </p:nvSpPr>
        <p:spPr>
          <a:xfrm>
            <a:off x="6720840" y="4617720"/>
            <a:ext cx="5303520" cy="365760"/>
          </a:xfrm>
          <a:prstGeom prst="rect">
            <a:avLst/>
          </a:prstGeom>
          <a:noFill/>
        </p:spPr>
        <p:txBody>
          <a:bodyPr wrap="square" lIns="0" rIns="0" tIns="0" bIns="0">
            <a:spAutoFit/>
          </a:bodyPr>
          <a:lstStyle/>
          <a:p>
            <a:pPr algn="l"/>
            <a:r>
              <a:rPr sz="1300" b="0">
                <a:solidFill>
                  <a:srgbClr val="8BA3C7"/>
                </a:solidFill>
                <a:latin typeface="Helvetica Neue"/>
              </a:rPr>
              <a:t>summary text only — never scores or grades</a:t>
            </a:r>
          </a:p>
        </p:txBody>
      </p:sp>
      <p:sp>
        <p:nvSpPr>
          <p:cNvPr id="25" name="Rounded Rectangle 24"/>
          <p:cNvSpPr/>
          <p:nvPr/>
        </p:nvSpPr>
        <p:spPr>
          <a:xfrm>
            <a:off x="548640" y="5577840"/>
            <a:ext cx="11155680" cy="685800"/>
          </a:xfrm>
          <a:prstGeom prst="roundRect">
            <a:avLst>
              <a:gd name="adj" fmla="val 20000"/>
            </a:avLst>
          </a:prstGeom>
          <a:solidFill>
            <a:srgbClr val="111827"/>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669280"/>
            <a:ext cx="10789920" cy="502920"/>
          </a:xfrm>
          <a:prstGeom prst="rect">
            <a:avLst/>
          </a:prstGeom>
          <a:noFill/>
        </p:spPr>
        <p:txBody>
          <a:bodyPr wrap="none">
            <a:spAutoFit/>
          </a:bodyPr>
          <a:lstStyle/>
          <a:p>
            <a:r>
              <a:rPr sz="1600" b="1">
                <a:solidFill>
                  <a:srgbClr val="00D4AA"/>
                </a:solidFill>
                <a:latin typeface="Helvetica Neue"/>
              </a:rPr>
              <a:t>Hard rule in the code: </a:t>
            </a:r>
            <a:r>
              <a:rPr sz="1600" b="1">
                <a:solidFill>
                  <a:srgbClr val="E9F4FF"/>
                </a:solidFill>
                <a:latin typeface="Helvetica Neue"/>
              </a:rPr>
              <a:t>the LLM can never change a score, a grade, or a supplier.</a:t>
            </a:r>
          </a:p>
        </p:txBody>
      </p:sp>
      <p:sp>
        <p:nvSpPr>
          <p:cNvPr id="27" name="TextBox 26"/>
          <p:cNvSpPr txBox="1"/>
          <p:nvPr/>
        </p:nvSpPr>
        <p:spPr>
          <a:xfrm>
            <a:off x="548640" y="6400800"/>
            <a:ext cx="5486400" cy="274320"/>
          </a:xfrm>
          <a:prstGeom prst="rect">
            <a:avLst/>
          </a:prstGeom>
          <a:noFill/>
        </p:spPr>
        <p:txBody>
          <a:bodyPr wrap="square" lIns="0" rIns="0" tIns="0" bIns="0">
            <a:spAutoFit/>
          </a:bodyPr>
          <a:lstStyle/>
          <a:p>
            <a:pPr algn="l"/>
            <a:r>
              <a:rPr sz="900" b="0">
                <a:solidFill>
                  <a:srgbClr val="5A749A"/>
                </a:solidFill>
                <a:latin typeface="Helvetica Neue"/>
              </a:rPr>
              <a:t>AgnesTheSecond  ·  TUM.ai × Spherecast Makeathon 2026</a:t>
            </a:r>
          </a:p>
        </p:txBody>
      </p:sp>
      <p:sp>
        <p:nvSpPr>
          <p:cNvPr id="28" name="TextBox 27"/>
          <p:cNvSpPr txBox="1"/>
          <p:nvPr/>
        </p:nvSpPr>
        <p:spPr>
          <a:xfrm>
            <a:off x="10058400" y="6400800"/>
            <a:ext cx="1828800" cy="274320"/>
          </a:xfrm>
          <a:prstGeom prst="rect">
            <a:avLst/>
          </a:prstGeom>
          <a:noFill/>
        </p:spPr>
        <p:txBody>
          <a:bodyPr wrap="square" lIns="0" rIns="0" tIns="0" bIns="0">
            <a:spAutoFit/>
          </a:bodyPr>
          <a:lstStyle/>
          <a:p>
            <a:pPr algn="r"/>
            <a:r>
              <a:rPr sz="900" b="0">
                <a:solidFill>
                  <a:srgbClr val="5A749A"/>
                </a:solidFill>
                <a:latin typeface="Helvetica Neue"/>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lIns="0" rIns="0" tIns="0" bIns="0">
            <a:spAutoFit/>
          </a:bodyPr>
          <a:lstStyle/>
          <a:p>
            <a:pPr algn="l"/>
            <a:r>
              <a:rPr sz="1100" b="1">
                <a:solidFill>
                  <a:srgbClr val="00D4AA"/>
                </a:solidFill>
                <a:latin typeface="Helvetica Neue"/>
              </a:rPr>
              <a:t>THE PRIORITIZATION FRAMEWORK</a:t>
            </a:r>
          </a:p>
        </p:txBody>
      </p:sp>
      <p:sp>
        <p:nvSpPr>
          <p:cNvPr id="4" name="TextBox 3"/>
          <p:cNvSpPr txBox="1"/>
          <p:nvPr/>
        </p:nvSpPr>
        <p:spPr>
          <a:xfrm>
            <a:off x="548640" y="777240"/>
            <a:ext cx="10972800" cy="822960"/>
          </a:xfrm>
          <a:prstGeom prst="rect">
            <a:avLst/>
          </a:prstGeom>
          <a:noFill/>
        </p:spPr>
        <p:txBody>
          <a:bodyPr wrap="square" lIns="0" rIns="0" tIns="0" bIns="0">
            <a:spAutoFit/>
          </a:bodyPr>
          <a:lstStyle/>
          <a:p>
            <a:pPr algn="l"/>
            <a:r>
              <a:rPr sz="3200" b="1">
                <a:solidFill>
                  <a:srgbClr val="E9F4FF"/>
                </a:solidFill>
                <a:latin typeface="Helvetica Neue"/>
              </a:rPr>
              <a:t>5 dimensions.  One weighted score.  One grade.</a:t>
            </a:r>
          </a:p>
        </p:txBody>
      </p:sp>
      <p:sp>
        <p:nvSpPr>
          <p:cNvPr id="5" name="Rectangle 4"/>
          <p:cNvSpPr/>
          <p:nvPr/>
        </p:nvSpPr>
        <p:spPr>
          <a:xfrm>
            <a:off x="548640" y="1645920"/>
            <a:ext cx="457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3474720" cy="365760"/>
          </a:xfrm>
          <a:prstGeom prst="rect">
            <a:avLst/>
          </a:prstGeom>
          <a:noFill/>
        </p:spPr>
        <p:txBody>
          <a:bodyPr wrap="square" lIns="0" rIns="0" tIns="0" bIns="0">
            <a:spAutoFit/>
          </a:bodyPr>
          <a:lstStyle/>
          <a:p>
            <a:pPr algn="l"/>
            <a:r>
              <a:rPr sz="1600" b="0">
                <a:solidFill>
                  <a:srgbClr val="E9F4FF"/>
                </a:solidFill>
                <a:latin typeface="Helvetica Neue"/>
              </a:rPr>
              <a:t>Consolidation leverage</a:t>
            </a:r>
          </a:p>
        </p:txBody>
      </p:sp>
      <p:sp>
        <p:nvSpPr>
          <p:cNvPr id="7" name="Rectangle 6"/>
          <p:cNvSpPr/>
          <p:nvPr/>
        </p:nvSpPr>
        <p:spPr>
          <a:xfrm>
            <a:off x="4297680" y="2212848"/>
            <a:ext cx="7772400" cy="185166"/>
          </a:xfrm>
          <a:prstGeom prst="rect">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2212848"/>
            <a:ext cx="7772400" cy="18516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02975" y="2148840"/>
            <a:ext cx="640080" cy="365760"/>
          </a:xfrm>
          <a:prstGeom prst="rect">
            <a:avLst/>
          </a:prstGeom>
          <a:noFill/>
        </p:spPr>
        <p:txBody>
          <a:bodyPr wrap="square" lIns="0" rIns="0" tIns="0" bIns="0">
            <a:spAutoFit/>
          </a:bodyPr>
          <a:lstStyle/>
          <a:p>
            <a:pPr algn="r"/>
            <a:r>
              <a:rPr sz="1600" b="1">
                <a:solidFill>
                  <a:srgbClr val="00D4AA"/>
                </a:solidFill>
                <a:latin typeface="Menlo"/>
              </a:rPr>
              <a:t>0.35</a:t>
            </a:r>
          </a:p>
        </p:txBody>
      </p:sp>
      <p:sp>
        <p:nvSpPr>
          <p:cNvPr id="10" name="TextBox 9"/>
          <p:cNvSpPr txBox="1"/>
          <p:nvPr/>
        </p:nvSpPr>
        <p:spPr>
          <a:xfrm>
            <a:off x="548640" y="2788920"/>
            <a:ext cx="3474720" cy="365760"/>
          </a:xfrm>
          <a:prstGeom prst="rect">
            <a:avLst/>
          </a:prstGeom>
          <a:noFill/>
        </p:spPr>
        <p:txBody>
          <a:bodyPr wrap="square" lIns="0" rIns="0" tIns="0" bIns="0">
            <a:spAutoFit/>
          </a:bodyPr>
          <a:lstStyle/>
          <a:p>
            <a:pPr algn="l"/>
            <a:r>
              <a:rPr sz="1600" b="0">
                <a:solidFill>
                  <a:srgbClr val="E9F4FF"/>
                </a:solidFill>
                <a:latin typeface="Helvetica Neue"/>
              </a:rPr>
              <a:t>Evidence confidence</a:t>
            </a:r>
          </a:p>
        </p:txBody>
      </p:sp>
      <p:sp>
        <p:nvSpPr>
          <p:cNvPr id="11" name="Rectangle 10"/>
          <p:cNvSpPr/>
          <p:nvPr/>
        </p:nvSpPr>
        <p:spPr>
          <a:xfrm>
            <a:off x="4297680" y="2852928"/>
            <a:ext cx="7772400" cy="185166"/>
          </a:xfrm>
          <a:prstGeom prst="rect">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852928"/>
            <a:ext cx="5551714" cy="18516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02975" y="2788920"/>
            <a:ext cx="640080" cy="365760"/>
          </a:xfrm>
          <a:prstGeom prst="rect">
            <a:avLst/>
          </a:prstGeom>
          <a:noFill/>
        </p:spPr>
        <p:txBody>
          <a:bodyPr wrap="square" lIns="0" rIns="0" tIns="0" bIns="0">
            <a:spAutoFit/>
          </a:bodyPr>
          <a:lstStyle/>
          <a:p>
            <a:pPr algn="r"/>
            <a:r>
              <a:rPr sz="1600" b="1">
                <a:solidFill>
                  <a:srgbClr val="00D4AA"/>
                </a:solidFill>
                <a:latin typeface="Menlo"/>
              </a:rPr>
              <a:t>0.25</a:t>
            </a:r>
          </a:p>
        </p:txBody>
      </p:sp>
      <p:sp>
        <p:nvSpPr>
          <p:cNvPr id="14" name="TextBox 13"/>
          <p:cNvSpPr txBox="1"/>
          <p:nvPr/>
        </p:nvSpPr>
        <p:spPr>
          <a:xfrm>
            <a:off x="548640" y="3428999"/>
            <a:ext cx="3474720" cy="365760"/>
          </a:xfrm>
          <a:prstGeom prst="rect">
            <a:avLst/>
          </a:prstGeom>
          <a:noFill/>
        </p:spPr>
        <p:txBody>
          <a:bodyPr wrap="square" lIns="0" rIns="0" tIns="0" bIns="0">
            <a:spAutoFit/>
          </a:bodyPr>
          <a:lstStyle/>
          <a:p>
            <a:pPr algn="l"/>
            <a:r>
              <a:rPr sz="1600" b="0">
                <a:solidFill>
                  <a:srgbClr val="E9F4FF"/>
                </a:solidFill>
                <a:latin typeface="Helvetica Neue"/>
              </a:rPr>
              <a:t>Compliance fit</a:t>
            </a:r>
          </a:p>
        </p:txBody>
      </p:sp>
      <p:sp>
        <p:nvSpPr>
          <p:cNvPr id="15" name="Rectangle 14"/>
          <p:cNvSpPr/>
          <p:nvPr/>
        </p:nvSpPr>
        <p:spPr>
          <a:xfrm>
            <a:off x="4297680" y="3493007"/>
            <a:ext cx="7772400" cy="185166"/>
          </a:xfrm>
          <a:prstGeom prst="rect">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3493007"/>
            <a:ext cx="4441371" cy="18516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02975" y="3428999"/>
            <a:ext cx="640080" cy="365760"/>
          </a:xfrm>
          <a:prstGeom prst="rect">
            <a:avLst/>
          </a:prstGeom>
          <a:noFill/>
        </p:spPr>
        <p:txBody>
          <a:bodyPr wrap="square" lIns="0" rIns="0" tIns="0" bIns="0">
            <a:spAutoFit/>
          </a:bodyPr>
          <a:lstStyle/>
          <a:p>
            <a:pPr algn="r"/>
            <a:r>
              <a:rPr sz="1600" b="1">
                <a:solidFill>
                  <a:srgbClr val="00D4AA"/>
                </a:solidFill>
                <a:latin typeface="Menlo"/>
              </a:rPr>
              <a:t>0.20</a:t>
            </a:r>
          </a:p>
        </p:txBody>
      </p:sp>
      <p:sp>
        <p:nvSpPr>
          <p:cNvPr id="18" name="TextBox 17"/>
          <p:cNvSpPr txBox="1"/>
          <p:nvPr/>
        </p:nvSpPr>
        <p:spPr>
          <a:xfrm>
            <a:off x="548640" y="4069079"/>
            <a:ext cx="3474720" cy="365760"/>
          </a:xfrm>
          <a:prstGeom prst="rect">
            <a:avLst/>
          </a:prstGeom>
          <a:noFill/>
        </p:spPr>
        <p:txBody>
          <a:bodyPr wrap="square" lIns="0" rIns="0" tIns="0" bIns="0">
            <a:spAutoFit/>
          </a:bodyPr>
          <a:lstStyle/>
          <a:p>
            <a:pPr algn="l"/>
            <a:r>
              <a:rPr sz="1600" b="1">
                <a:solidFill>
                  <a:srgbClr val="EF4444"/>
                </a:solidFill>
                <a:latin typeface="Helvetica Neue"/>
              </a:rPr>
              <a:t>Supplier diversification</a:t>
            </a:r>
          </a:p>
        </p:txBody>
      </p:sp>
      <p:sp>
        <p:nvSpPr>
          <p:cNvPr id="19" name="TextBox 18"/>
          <p:cNvSpPr txBox="1"/>
          <p:nvPr/>
        </p:nvSpPr>
        <p:spPr>
          <a:xfrm>
            <a:off x="4023360" y="4069079"/>
            <a:ext cx="274320" cy="365760"/>
          </a:xfrm>
          <a:prstGeom prst="rect">
            <a:avLst/>
          </a:prstGeom>
          <a:noFill/>
        </p:spPr>
        <p:txBody>
          <a:bodyPr wrap="square" lIns="0" rIns="0" tIns="0" bIns="0">
            <a:spAutoFit/>
          </a:bodyPr>
          <a:lstStyle/>
          <a:p>
            <a:pPr algn="l"/>
            <a:r>
              <a:rPr sz="1600" b="1">
                <a:solidFill>
                  <a:srgbClr val="EF4444"/>
                </a:solidFill>
                <a:latin typeface="Helvetica Neue"/>
              </a:rPr>
              <a:t>⚙</a:t>
            </a:r>
          </a:p>
        </p:txBody>
      </p:sp>
      <p:sp>
        <p:nvSpPr>
          <p:cNvPr id="20" name="Rectangle 19"/>
          <p:cNvSpPr/>
          <p:nvPr/>
        </p:nvSpPr>
        <p:spPr>
          <a:xfrm>
            <a:off x="4297680" y="4133087"/>
            <a:ext cx="7772400" cy="185166"/>
          </a:xfrm>
          <a:prstGeom prst="rect">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4133087"/>
            <a:ext cx="2220685" cy="18516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02975" y="4069079"/>
            <a:ext cx="640080" cy="365760"/>
          </a:xfrm>
          <a:prstGeom prst="rect">
            <a:avLst/>
          </a:prstGeom>
          <a:noFill/>
        </p:spPr>
        <p:txBody>
          <a:bodyPr wrap="square" lIns="0" rIns="0" tIns="0" bIns="0">
            <a:spAutoFit/>
          </a:bodyPr>
          <a:lstStyle/>
          <a:p>
            <a:pPr algn="r"/>
            <a:r>
              <a:rPr sz="1600" b="1">
                <a:solidFill>
                  <a:srgbClr val="EF4444"/>
                </a:solidFill>
                <a:latin typeface="Menlo"/>
              </a:rPr>
              <a:t>0.10</a:t>
            </a:r>
          </a:p>
        </p:txBody>
      </p:sp>
      <p:sp>
        <p:nvSpPr>
          <p:cNvPr id="23" name="TextBox 22"/>
          <p:cNvSpPr txBox="1"/>
          <p:nvPr/>
        </p:nvSpPr>
        <p:spPr>
          <a:xfrm>
            <a:off x="548640" y="4709160"/>
            <a:ext cx="3474720" cy="365760"/>
          </a:xfrm>
          <a:prstGeom prst="rect">
            <a:avLst/>
          </a:prstGeom>
          <a:noFill/>
        </p:spPr>
        <p:txBody>
          <a:bodyPr wrap="square" lIns="0" rIns="0" tIns="0" bIns="0">
            <a:spAutoFit/>
          </a:bodyPr>
          <a:lstStyle/>
          <a:p>
            <a:pPr algn="l"/>
            <a:r>
              <a:rPr sz="1600" b="0">
                <a:solidFill>
                  <a:srgbClr val="E9F4FF"/>
                </a:solidFill>
                <a:latin typeface="Helvetica Neue"/>
              </a:rPr>
              <a:t>Switching feasibility</a:t>
            </a:r>
          </a:p>
        </p:txBody>
      </p:sp>
      <p:sp>
        <p:nvSpPr>
          <p:cNvPr id="24" name="Rectangle 23"/>
          <p:cNvSpPr/>
          <p:nvPr/>
        </p:nvSpPr>
        <p:spPr>
          <a:xfrm>
            <a:off x="4297680" y="4773168"/>
            <a:ext cx="7772400" cy="185166"/>
          </a:xfrm>
          <a:prstGeom prst="rect">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73168"/>
            <a:ext cx="2220685" cy="18516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02975" y="4709160"/>
            <a:ext cx="640080" cy="365760"/>
          </a:xfrm>
          <a:prstGeom prst="rect">
            <a:avLst/>
          </a:prstGeom>
          <a:noFill/>
        </p:spPr>
        <p:txBody>
          <a:bodyPr wrap="square" lIns="0" rIns="0" tIns="0" bIns="0">
            <a:spAutoFit/>
          </a:bodyPr>
          <a:lstStyle/>
          <a:p>
            <a:pPr algn="r"/>
            <a:r>
              <a:rPr sz="1600" b="1">
                <a:solidFill>
                  <a:srgbClr val="00D4AA"/>
                </a:solidFill>
                <a:latin typeface="Menlo"/>
              </a:rPr>
              <a:t>0.10</a:t>
            </a:r>
          </a:p>
        </p:txBody>
      </p:sp>
      <p:sp>
        <p:nvSpPr>
          <p:cNvPr id="27" name="Rounded Rectangle 26"/>
          <p:cNvSpPr/>
          <p:nvPr/>
        </p:nvSpPr>
        <p:spPr>
          <a:xfrm>
            <a:off x="548640" y="5532120"/>
            <a:ext cx="11155680" cy="960120"/>
          </a:xfrm>
          <a:prstGeom prst="roundRect">
            <a:avLst>
              <a:gd name="adj" fmla="val 12000"/>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5669280"/>
            <a:ext cx="10607040" cy="777240"/>
          </a:xfrm>
          <a:prstGeom prst="rect">
            <a:avLst/>
          </a:prstGeom>
          <a:noFill/>
        </p:spPr>
        <p:txBody>
          <a:bodyPr wrap="square">
            <a:spAutoFit/>
          </a:bodyPr>
          <a:lstStyle/>
          <a:p>
            <a:r>
              <a:rPr sz="1800" b="1">
                <a:solidFill>
                  <a:srgbClr val="EF4444"/>
                </a:solidFill>
                <a:latin typeface="Helvetica Neue"/>
              </a:rPr>
              <a:t>⚙ Monopoly veto:  </a:t>
            </a:r>
            <a:r>
              <a:rPr sz="1600">
                <a:solidFill>
                  <a:srgbClr val="E9F4FF"/>
                </a:solidFill>
                <a:latin typeface="Helvetica Neue"/>
              </a:rPr>
              <a:t>if consolidation would leave ≤ 2 suppliers network-wide, the grade is automatically downgraded.  Not a heuristic — a hard rule.</a:t>
            </a:r>
          </a:p>
        </p:txBody>
      </p:sp>
      <p:sp>
        <p:nvSpPr>
          <p:cNvPr id="29" name="TextBox 28"/>
          <p:cNvSpPr txBox="1"/>
          <p:nvPr/>
        </p:nvSpPr>
        <p:spPr>
          <a:xfrm>
            <a:off x="548640" y="6400800"/>
            <a:ext cx="5486400" cy="274320"/>
          </a:xfrm>
          <a:prstGeom prst="rect">
            <a:avLst/>
          </a:prstGeom>
          <a:noFill/>
        </p:spPr>
        <p:txBody>
          <a:bodyPr wrap="square" lIns="0" rIns="0" tIns="0" bIns="0">
            <a:spAutoFit/>
          </a:bodyPr>
          <a:lstStyle/>
          <a:p>
            <a:pPr algn="l"/>
            <a:r>
              <a:rPr sz="900" b="0">
                <a:solidFill>
                  <a:srgbClr val="5A749A"/>
                </a:solidFill>
                <a:latin typeface="Helvetica Neue"/>
              </a:rPr>
              <a:t>AgnesTheSecond  ·  TUM.ai × Spherecast Makeathon 2026</a:t>
            </a:r>
          </a:p>
        </p:txBody>
      </p:sp>
      <p:sp>
        <p:nvSpPr>
          <p:cNvPr id="30" name="TextBox 29"/>
          <p:cNvSpPr txBox="1"/>
          <p:nvPr/>
        </p:nvSpPr>
        <p:spPr>
          <a:xfrm>
            <a:off x="10058400" y="6400800"/>
            <a:ext cx="1828800" cy="274320"/>
          </a:xfrm>
          <a:prstGeom prst="rect">
            <a:avLst/>
          </a:prstGeom>
          <a:noFill/>
        </p:spPr>
        <p:txBody>
          <a:bodyPr wrap="square" lIns="0" rIns="0" tIns="0" bIns="0">
            <a:spAutoFit/>
          </a:bodyPr>
          <a:lstStyle/>
          <a:p>
            <a:pPr algn="r"/>
            <a:r>
              <a:rPr sz="900" b="0">
                <a:solidFill>
                  <a:srgbClr val="5A749A"/>
                </a:solidFill>
                <a:latin typeface="Helvetica Neue"/>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lIns="0" rIns="0" tIns="0" bIns="0">
            <a:spAutoFit/>
          </a:bodyPr>
          <a:lstStyle/>
          <a:p>
            <a:pPr algn="l"/>
            <a:r>
              <a:rPr sz="1100" b="1">
                <a:solidFill>
                  <a:srgbClr val="00D4AA"/>
                </a:solidFill>
                <a:latin typeface="Helvetica Neue"/>
              </a:rPr>
              <a:t>THE RESULT, ON REAL DATA</a:t>
            </a:r>
          </a:p>
        </p:txBody>
      </p:sp>
      <p:sp>
        <p:nvSpPr>
          <p:cNvPr id="4" name="TextBox 3"/>
          <p:cNvSpPr txBox="1"/>
          <p:nvPr/>
        </p:nvSpPr>
        <p:spPr>
          <a:xfrm>
            <a:off x="0" y="1737360"/>
            <a:ext cx="12191695" cy="3474720"/>
          </a:xfrm>
          <a:prstGeom prst="rect">
            <a:avLst/>
          </a:prstGeom>
          <a:noFill/>
        </p:spPr>
        <p:txBody>
          <a:bodyPr wrap="square" lIns="0" rIns="0" tIns="0" bIns="0">
            <a:spAutoFit/>
          </a:bodyPr>
          <a:lstStyle/>
          <a:p>
            <a:pPr algn="ctr">
              <a:lnSpc>
                <a:spcPct val="90000"/>
              </a:lnSpc>
            </a:pPr>
            <a:r>
              <a:rPr sz="26000" b="1">
                <a:solidFill>
                  <a:srgbClr val="E9F4FF"/>
                </a:solidFill>
                <a:latin typeface="Helvetica Neue"/>
              </a:rPr>
              <a:t>124 / 125</a:t>
            </a:r>
          </a:p>
        </p:txBody>
      </p:sp>
      <p:sp>
        <p:nvSpPr>
          <p:cNvPr id="5" name="TextBox 4"/>
          <p:cNvSpPr txBox="1"/>
          <p:nvPr/>
        </p:nvSpPr>
        <p:spPr>
          <a:xfrm>
            <a:off x="0" y="4846320"/>
            <a:ext cx="12191695" cy="731520"/>
          </a:xfrm>
          <a:prstGeom prst="rect">
            <a:avLst/>
          </a:prstGeom>
          <a:noFill/>
        </p:spPr>
        <p:txBody>
          <a:bodyPr wrap="square" lIns="0" rIns="0" tIns="0" bIns="0">
            <a:spAutoFit/>
          </a:bodyPr>
          <a:lstStyle/>
          <a:p>
            <a:pPr algn="ctr"/>
            <a:r>
              <a:rPr sz="2200" b="0">
                <a:solidFill>
                  <a:srgbClr val="00D4AA"/>
                </a:solidFill>
                <a:latin typeface="Helvetica Neue"/>
              </a:rPr>
              <a:t>consolidation opportunities trigger the concentration-risk veto.</a:t>
            </a:r>
          </a:p>
        </p:txBody>
      </p:sp>
      <p:sp>
        <p:nvSpPr>
          <p:cNvPr id="6" name="TextBox 5"/>
          <p:cNvSpPr txBox="1"/>
          <p:nvPr/>
        </p:nvSpPr>
        <p:spPr>
          <a:xfrm>
            <a:off x="0" y="5577840"/>
            <a:ext cx="12191695" cy="457200"/>
          </a:xfrm>
          <a:prstGeom prst="rect">
            <a:avLst/>
          </a:prstGeom>
          <a:noFill/>
        </p:spPr>
        <p:txBody>
          <a:bodyPr wrap="square" lIns="0" rIns="0" tIns="0" bIns="0">
            <a:spAutoFit/>
          </a:bodyPr>
          <a:lstStyle/>
          <a:p>
            <a:pPr algn="ctr"/>
            <a:r>
              <a:rPr sz="1400" b="0">
                <a:solidFill>
                  <a:srgbClr val="8BA3C7"/>
                </a:solidFill>
                <a:latin typeface="Helvetica Neue"/>
              </a:rPr>
              <a:t>A naive tool would recommend consolidating all 125.  Agnes flags 124 for review.</a:t>
            </a:r>
          </a:p>
        </p:txBody>
      </p:sp>
      <p:sp>
        <p:nvSpPr>
          <p:cNvPr id="7" name="TextBox 6"/>
          <p:cNvSpPr txBox="1"/>
          <p:nvPr/>
        </p:nvSpPr>
        <p:spPr>
          <a:xfrm>
            <a:off x="548640" y="6400800"/>
            <a:ext cx="5486400" cy="274320"/>
          </a:xfrm>
          <a:prstGeom prst="rect">
            <a:avLst/>
          </a:prstGeom>
          <a:noFill/>
        </p:spPr>
        <p:txBody>
          <a:bodyPr wrap="square" lIns="0" rIns="0" tIns="0" bIns="0">
            <a:spAutoFit/>
          </a:bodyPr>
          <a:lstStyle/>
          <a:p>
            <a:pPr algn="l"/>
            <a:r>
              <a:rPr sz="900" b="0">
                <a:solidFill>
                  <a:srgbClr val="5A749A"/>
                </a:solidFill>
                <a:latin typeface="Helvetica Neue"/>
              </a:rPr>
              <a:t>AgnesTheSecond  ·  TUM.ai × Spherecast Makeathon 2026</a:t>
            </a:r>
          </a:p>
        </p:txBody>
      </p:sp>
      <p:sp>
        <p:nvSpPr>
          <p:cNvPr id="8" name="TextBox 7"/>
          <p:cNvSpPr txBox="1"/>
          <p:nvPr/>
        </p:nvSpPr>
        <p:spPr>
          <a:xfrm>
            <a:off x="10058400" y="6400800"/>
            <a:ext cx="1828800" cy="274320"/>
          </a:xfrm>
          <a:prstGeom prst="rect">
            <a:avLst/>
          </a:prstGeom>
          <a:noFill/>
        </p:spPr>
        <p:txBody>
          <a:bodyPr wrap="square" lIns="0" rIns="0" tIns="0" bIns="0">
            <a:spAutoFit/>
          </a:bodyPr>
          <a:lstStyle/>
          <a:p>
            <a:pPr algn="r"/>
            <a:r>
              <a:rPr sz="900" b="0">
                <a:solidFill>
                  <a:srgbClr val="5A749A"/>
                </a:solidFill>
                <a:latin typeface="Helvetica Neue"/>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lIns="0" rIns="0" tIns="0" bIns="0">
            <a:spAutoFit/>
          </a:bodyPr>
          <a:lstStyle/>
          <a:p>
            <a:pPr algn="l"/>
            <a:r>
              <a:rPr sz="1100" b="1">
                <a:solidFill>
                  <a:srgbClr val="00D4AA"/>
                </a:solidFill>
                <a:latin typeface="Helvetica Neue"/>
              </a:rPr>
              <a:t>125 CONSOLIDATION OPPORTUNITIES</a:t>
            </a:r>
          </a:p>
        </p:txBody>
      </p:sp>
      <p:sp>
        <p:nvSpPr>
          <p:cNvPr id="4" name="TextBox 3"/>
          <p:cNvSpPr txBox="1"/>
          <p:nvPr/>
        </p:nvSpPr>
        <p:spPr>
          <a:xfrm>
            <a:off x="548640" y="777240"/>
            <a:ext cx="10972800" cy="822960"/>
          </a:xfrm>
          <a:prstGeom prst="rect">
            <a:avLst/>
          </a:prstGeom>
          <a:noFill/>
        </p:spPr>
        <p:txBody>
          <a:bodyPr wrap="square" lIns="0" rIns="0" tIns="0" bIns="0">
            <a:spAutoFit/>
          </a:bodyPr>
          <a:lstStyle/>
          <a:p>
            <a:pPr algn="l"/>
            <a:r>
              <a:rPr sz="3200" b="1">
                <a:solidFill>
                  <a:srgbClr val="E9F4FF"/>
                </a:solidFill>
                <a:latin typeface="Helvetica Neue"/>
              </a:rPr>
              <a:t>Each dot is one consolidation call.</a:t>
            </a:r>
          </a:p>
        </p:txBody>
      </p:sp>
      <p:sp>
        <p:nvSpPr>
          <p:cNvPr id="5" name="Rectangle 4"/>
          <p:cNvSpPr/>
          <p:nvPr/>
        </p:nvSpPr>
        <p:spPr>
          <a:xfrm>
            <a:off x="548640" y="1645920"/>
            <a:ext cx="457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148840"/>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65098"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98676"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32254"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65832"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899410"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32988"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766566"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00144"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33722"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67300"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500878"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34456"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68034"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01612"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235190"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68768"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02346"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535924"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969502"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03080"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36658"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270236"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703814"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137392" y="2148840"/>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31520"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65098"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598676"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032254"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465832"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899410"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332988"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766566"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200144"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633722"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067300"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500878"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934456"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68034"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801612"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235190"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668768"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102346"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535924"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969502"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403080"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836658"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270236"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703814"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37392" y="2624328"/>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31520"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65098"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598676"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32254"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465832"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899410"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332988"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766566"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200144"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633722"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5067300"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500878"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934456"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368034"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801612"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235190"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668768"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102346"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535924"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969502"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9403080"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836658"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270236"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703814"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1137392" y="3099816"/>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31520"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165098"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598676"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032254"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465832"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99410"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332988"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66566"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200144"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633722"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067300"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5500878"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5934456"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368034"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801612"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235190"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668768"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102346"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535924"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969502"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403080"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836658"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0270236"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703814"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1137392" y="3575304"/>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31520"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165098"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598676"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032254"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465832"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2899410"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332988"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766566"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4200144"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633722"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5067300"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5500878"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5934456"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6368034"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6801612"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235190"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668768"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8102346"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535924"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8969502"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403080"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9836658"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0270236"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0703814"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1137392" y="4050792"/>
            <a:ext cx="292608" cy="29260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731520" y="4864608"/>
            <a:ext cx="256032" cy="25603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97280" y="4800600"/>
            <a:ext cx="5029200" cy="457200"/>
          </a:xfrm>
          <a:prstGeom prst="rect">
            <a:avLst/>
          </a:prstGeom>
          <a:noFill/>
        </p:spPr>
        <p:txBody>
          <a:bodyPr wrap="square" lIns="0" rIns="0" tIns="0" bIns="0">
            <a:spAutoFit/>
          </a:bodyPr>
          <a:lstStyle/>
          <a:p>
            <a:pPr algn="l"/>
            <a:r>
              <a:rPr sz="1600" b="1">
                <a:solidFill>
                  <a:srgbClr val="22C55E"/>
                </a:solidFill>
                <a:latin typeface="Helvetica Neue"/>
              </a:rPr>
              <a:t>1   safe_to_consolidate</a:t>
            </a:r>
          </a:p>
        </p:txBody>
      </p:sp>
      <p:sp>
        <p:nvSpPr>
          <p:cNvPr id="133" name="TextBox 132"/>
          <p:cNvSpPr txBox="1"/>
          <p:nvPr/>
        </p:nvSpPr>
        <p:spPr>
          <a:xfrm>
            <a:off x="1097280" y="5166360"/>
            <a:ext cx="5029200" cy="365760"/>
          </a:xfrm>
          <a:prstGeom prst="rect">
            <a:avLst/>
          </a:prstGeom>
          <a:noFill/>
        </p:spPr>
        <p:txBody>
          <a:bodyPr wrap="square" lIns="0" rIns="0" tIns="0" bIns="0">
            <a:spAutoFit/>
          </a:bodyPr>
          <a:lstStyle/>
          <a:p>
            <a:pPr algn="l"/>
            <a:r>
              <a:rPr sz="1200" b="0">
                <a:solidFill>
                  <a:srgbClr val="8BA3C7"/>
                </a:solidFill>
                <a:latin typeface="Helvetica Neue"/>
              </a:rPr>
              <a:t>Beta Carotene · 4 global suppliers · diversification green</a:t>
            </a:r>
          </a:p>
        </p:txBody>
      </p:sp>
      <p:sp>
        <p:nvSpPr>
          <p:cNvPr id="134" name="Oval 133"/>
          <p:cNvSpPr/>
          <p:nvPr/>
        </p:nvSpPr>
        <p:spPr>
          <a:xfrm>
            <a:off x="6583680" y="4864608"/>
            <a:ext cx="256032" cy="25603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949440" y="4800600"/>
            <a:ext cx="5029200" cy="457200"/>
          </a:xfrm>
          <a:prstGeom prst="rect">
            <a:avLst/>
          </a:prstGeom>
          <a:noFill/>
        </p:spPr>
        <p:txBody>
          <a:bodyPr wrap="square" lIns="0" rIns="0" tIns="0" bIns="0">
            <a:spAutoFit/>
          </a:bodyPr>
          <a:lstStyle/>
          <a:p>
            <a:pPr algn="l"/>
            <a:r>
              <a:rPr sz="1600" b="1">
                <a:solidFill>
                  <a:srgbClr val="EF4444"/>
                </a:solidFill>
                <a:latin typeface="Helvetica Neue"/>
              </a:rPr>
              <a:t>124   review_required — keep a backup</a:t>
            </a:r>
          </a:p>
        </p:txBody>
      </p:sp>
      <p:sp>
        <p:nvSpPr>
          <p:cNvPr id="136" name="TextBox 135"/>
          <p:cNvSpPr txBox="1"/>
          <p:nvPr/>
        </p:nvSpPr>
        <p:spPr>
          <a:xfrm>
            <a:off x="6949440" y="5166360"/>
            <a:ext cx="5029200" cy="365760"/>
          </a:xfrm>
          <a:prstGeom prst="rect">
            <a:avLst/>
          </a:prstGeom>
          <a:noFill/>
        </p:spPr>
        <p:txBody>
          <a:bodyPr wrap="square" lIns="0" rIns="0" tIns="0" bIns="0">
            <a:spAutoFit/>
          </a:bodyPr>
          <a:lstStyle/>
          <a:p>
            <a:pPr algn="l"/>
            <a:r>
              <a:rPr sz="1200" b="0">
                <a:solidFill>
                  <a:srgbClr val="8BA3C7"/>
                </a:solidFill>
                <a:latin typeface="Helvetica Neue"/>
              </a:rPr>
              <a:t>≤ 2 global suppliers · full consolidation would create single-source risk</a:t>
            </a:r>
          </a:p>
        </p:txBody>
      </p:sp>
      <p:sp>
        <p:nvSpPr>
          <p:cNvPr id="137" name="TextBox 136"/>
          <p:cNvSpPr txBox="1"/>
          <p:nvPr/>
        </p:nvSpPr>
        <p:spPr>
          <a:xfrm>
            <a:off x="548640" y="5897880"/>
            <a:ext cx="11155680" cy="457200"/>
          </a:xfrm>
          <a:prstGeom prst="rect">
            <a:avLst/>
          </a:prstGeom>
          <a:noFill/>
        </p:spPr>
        <p:txBody>
          <a:bodyPr wrap="square" lIns="0" rIns="0" tIns="0" bIns="0">
            <a:spAutoFit/>
          </a:bodyPr>
          <a:lstStyle/>
          <a:p>
            <a:pPr algn="ctr"/>
            <a:r>
              <a:rPr sz="1500" b="1">
                <a:solidFill>
                  <a:srgbClr val="00D4AA"/>
                </a:solidFill>
                <a:latin typeface="Helvetica Neue"/>
              </a:rPr>
              <a:t>Maximum leverage.  Minimum concentration risk.</a:t>
            </a:r>
          </a:p>
        </p:txBody>
      </p:sp>
      <p:sp>
        <p:nvSpPr>
          <p:cNvPr id="138" name="TextBox 137"/>
          <p:cNvSpPr txBox="1"/>
          <p:nvPr/>
        </p:nvSpPr>
        <p:spPr>
          <a:xfrm>
            <a:off x="548640" y="6400800"/>
            <a:ext cx="5486400" cy="274320"/>
          </a:xfrm>
          <a:prstGeom prst="rect">
            <a:avLst/>
          </a:prstGeom>
          <a:noFill/>
        </p:spPr>
        <p:txBody>
          <a:bodyPr wrap="square" lIns="0" rIns="0" tIns="0" bIns="0">
            <a:spAutoFit/>
          </a:bodyPr>
          <a:lstStyle/>
          <a:p>
            <a:pPr algn="l"/>
            <a:r>
              <a:rPr sz="900" b="0">
                <a:solidFill>
                  <a:srgbClr val="5A749A"/>
                </a:solidFill>
                <a:latin typeface="Helvetica Neue"/>
              </a:rPr>
              <a:t>AgnesTheSecond  ·  TUM.ai × Spherecast Makeathon 2026</a:t>
            </a:r>
          </a:p>
        </p:txBody>
      </p:sp>
      <p:sp>
        <p:nvSpPr>
          <p:cNvPr id="139" name="TextBox 138"/>
          <p:cNvSpPr txBox="1"/>
          <p:nvPr/>
        </p:nvSpPr>
        <p:spPr>
          <a:xfrm>
            <a:off x="10058400" y="6400800"/>
            <a:ext cx="1828800" cy="274320"/>
          </a:xfrm>
          <a:prstGeom prst="rect">
            <a:avLst/>
          </a:prstGeom>
          <a:noFill/>
        </p:spPr>
        <p:txBody>
          <a:bodyPr wrap="square" lIns="0" rIns="0" tIns="0" bIns="0">
            <a:spAutoFit/>
          </a:bodyPr>
          <a:lstStyle/>
          <a:p>
            <a:pPr algn="r"/>
            <a:r>
              <a:rPr sz="900" b="0">
                <a:solidFill>
                  <a:srgbClr val="5A749A"/>
                </a:solidFill>
                <a:latin typeface="Helvetica Neue"/>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lIns="0" rIns="0" tIns="0" bIns="0">
            <a:spAutoFit/>
          </a:bodyPr>
          <a:lstStyle/>
          <a:p>
            <a:pPr algn="l"/>
            <a:r>
              <a:rPr sz="1100" b="1">
                <a:solidFill>
                  <a:srgbClr val="00D4AA"/>
                </a:solidFill>
                <a:latin typeface="Helvetica Neue"/>
              </a:rPr>
              <a:t>SAME INGREDIENT. SAME DATA. TWO DIFFERENT ANSWERS.</a:t>
            </a:r>
          </a:p>
        </p:txBody>
      </p:sp>
      <p:sp>
        <p:nvSpPr>
          <p:cNvPr id="4" name="TextBox 3"/>
          <p:cNvSpPr txBox="1"/>
          <p:nvPr/>
        </p:nvSpPr>
        <p:spPr>
          <a:xfrm>
            <a:off x="548640" y="777240"/>
            <a:ext cx="10972800" cy="822960"/>
          </a:xfrm>
          <a:prstGeom prst="rect">
            <a:avLst/>
          </a:prstGeom>
          <a:noFill/>
        </p:spPr>
        <p:txBody>
          <a:bodyPr wrap="square" lIns="0" rIns="0" tIns="0" bIns="0">
            <a:spAutoFit/>
          </a:bodyPr>
          <a:lstStyle/>
          <a:p>
            <a:pPr algn="l"/>
            <a:r>
              <a:rPr sz="3200" b="1">
                <a:solidFill>
                  <a:srgbClr val="E9F4FF"/>
                </a:solidFill>
                <a:latin typeface="Helvetica Neue"/>
              </a:rPr>
              <a:t>Naive tool   vs   Agnes.</a:t>
            </a:r>
          </a:p>
        </p:txBody>
      </p:sp>
      <p:sp>
        <p:nvSpPr>
          <p:cNvPr id="5" name="Rectangle 4"/>
          <p:cNvSpPr/>
          <p:nvPr/>
        </p:nvSpPr>
        <p:spPr>
          <a:xfrm>
            <a:off x="548640" y="1645920"/>
            <a:ext cx="457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486400" cy="365760"/>
          </a:xfrm>
          <a:prstGeom prst="rect">
            <a:avLst/>
          </a:prstGeom>
          <a:noFill/>
        </p:spPr>
        <p:txBody>
          <a:bodyPr wrap="square" lIns="0" rIns="0" tIns="0" bIns="0">
            <a:spAutoFit/>
          </a:bodyPr>
          <a:lstStyle/>
          <a:p>
            <a:pPr algn="l"/>
            <a:r>
              <a:rPr sz="1200" b="1">
                <a:solidFill>
                  <a:srgbClr val="EF4444"/>
                </a:solidFill>
                <a:latin typeface="Helvetica Neue"/>
              </a:rPr>
              <a:t>NAIVE TOOL   —   'consolidate!'</a:t>
            </a:r>
          </a:p>
        </p:txBody>
      </p:sp>
      <p:sp>
        <p:nvSpPr>
          <p:cNvPr id="7" name="TextBox 6"/>
          <p:cNvSpPr txBox="1"/>
          <p:nvPr/>
        </p:nvSpPr>
        <p:spPr>
          <a:xfrm>
            <a:off x="6400800" y="1920240"/>
            <a:ext cx="5486400" cy="365760"/>
          </a:xfrm>
          <a:prstGeom prst="rect">
            <a:avLst/>
          </a:prstGeom>
          <a:noFill/>
        </p:spPr>
        <p:txBody>
          <a:bodyPr wrap="square" lIns="0" rIns="0" tIns="0" bIns="0">
            <a:spAutoFit/>
          </a:bodyPr>
          <a:lstStyle/>
          <a:p>
            <a:pPr algn="l"/>
            <a:r>
              <a:rPr sz="1200" b="1">
                <a:solidFill>
                  <a:srgbClr val="00D4AA"/>
                </a:solidFill>
                <a:latin typeface="Helvetica Neue"/>
              </a:rPr>
              <a:t>AGNES   —   'review, keep a backup'</a:t>
            </a:r>
          </a:p>
        </p:txBody>
      </p:sp>
      <p:sp>
        <p:nvSpPr>
          <p:cNvPr id="8" name="Rounded Rectangle 7"/>
          <p:cNvSpPr/>
          <p:nvPr/>
        </p:nvSpPr>
        <p:spPr>
          <a:xfrm>
            <a:off x="548640" y="2331720"/>
            <a:ext cx="5486400" cy="3474720"/>
          </a:xfrm>
          <a:prstGeom prst="roundRect">
            <a:avLst>
              <a:gd name="adj" fmla="val 5000"/>
            </a:avLst>
          </a:prstGeom>
          <a:solidFill>
            <a:srgbClr val="1A2236"/>
          </a:solidFill>
          <a:ln w="1270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14600"/>
            <a:ext cx="5029200" cy="457200"/>
          </a:xfrm>
          <a:prstGeom prst="rect">
            <a:avLst/>
          </a:prstGeom>
          <a:noFill/>
        </p:spPr>
        <p:txBody>
          <a:bodyPr wrap="square" lIns="0" rIns="0" tIns="0" bIns="0">
            <a:spAutoFit/>
          </a:bodyPr>
          <a:lstStyle/>
          <a:p>
            <a:pPr algn="l"/>
            <a:r>
              <a:rPr sz="1600" b="1">
                <a:solidFill>
                  <a:srgbClr val="E9F4FF"/>
                </a:solidFill>
                <a:latin typeface="Helvetica Neue"/>
              </a:rPr>
              <a:t>Microcrystalline Cellulose</a:t>
            </a:r>
          </a:p>
        </p:txBody>
      </p:sp>
      <p:sp>
        <p:nvSpPr>
          <p:cNvPr id="10" name="Rounded Rectangle 9"/>
          <p:cNvSpPr/>
          <p:nvPr/>
        </p:nvSpPr>
        <p:spPr>
          <a:xfrm>
            <a:off x="777240" y="3017520"/>
            <a:ext cx="1764792" cy="329184"/>
          </a:xfrm>
          <a:prstGeom prst="roundRect">
            <a:avLst>
              <a:gd name="adj" fmla="val 35000"/>
            </a:avLst>
          </a:prstGeom>
          <a:solidFill>
            <a:srgbClr val="111827"/>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137160" rIns="137160" tIns="0" bIns="0"/>
          <a:lstStyle/>
          <a:p>
            <a:pPr algn="ctr"/>
            <a:r>
              <a:rPr sz="1000" b="1">
                <a:solidFill>
                  <a:srgbClr val="EF4444"/>
                </a:solidFill>
                <a:latin typeface="Helvetica Neue"/>
              </a:rPr>
              <a:t>HIGH PRIORITY</a:t>
            </a:r>
          </a:p>
        </p:txBody>
      </p:sp>
      <p:sp>
        <p:nvSpPr>
          <p:cNvPr id="11" name="TextBox 10"/>
          <p:cNvSpPr txBox="1"/>
          <p:nvPr/>
        </p:nvSpPr>
        <p:spPr>
          <a:xfrm>
            <a:off x="777240" y="3566160"/>
            <a:ext cx="5029200" cy="457200"/>
          </a:xfrm>
          <a:prstGeom prst="rect">
            <a:avLst/>
          </a:prstGeom>
          <a:noFill/>
        </p:spPr>
        <p:txBody>
          <a:bodyPr wrap="square" lIns="0" rIns="0" tIns="0" bIns="0">
            <a:spAutoFit/>
          </a:bodyPr>
          <a:lstStyle/>
          <a:p>
            <a:pPr algn="l"/>
            <a:r>
              <a:rPr sz="1300" b="0">
                <a:solidFill>
                  <a:srgbClr val="8BA3C7"/>
                </a:solidFill>
                <a:latin typeface="Helvetica Neue"/>
              </a:rPr>
              <a:t>'13 companies buying from 2 suppliers.</a:t>
            </a:r>
          </a:p>
        </p:txBody>
      </p:sp>
      <p:sp>
        <p:nvSpPr>
          <p:cNvPr id="12" name="TextBox 11"/>
          <p:cNvSpPr txBox="1"/>
          <p:nvPr/>
        </p:nvSpPr>
        <p:spPr>
          <a:xfrm>
            <a:off x="777240" y="3840480"/>
            <a:ext cx="5029200" cy="457200"/>
          </a:xfrm>
          <a:prstGeom prst="rect">
            <a:avLst/>
          </a:prstGeom>
          <a:noFill/>
        </p:spPr>
        <p:txBody>
          <a:bodyPr wrap="square" lIns="0" rIns="0" tIns="0" bIns="0">
            <a:spAutoFit/>
          </a:bodyPr>
          <a:lstStyle/>
          <a:p>
            <a:pPr algn="l"/>
            <a:r>
              <a:rPr sz="1300" b="0">
                <a:solidFill>
                  <a:srgbClr val="8BA3C7"/>
                </a:solidFill>
                <a:latin typeface="Helvetica Neue"/>
              </a:rPr>
              <a:t>Consolidate to Colorcon. Save $X million.'</a:t>
            </a:r>
          </a:p>
        </p:txBody>
      </p:sp>
      <p:sp>
        <p:nvSpPr>
          <p:cNvPr id="13" name="TextBox 12"/>
          <p:cNvSpPr txBox="1"/>
          <p:nvPr/>
        </p:nvSpPr>
        <p:spPr>
          <a:xfrm>
            <a:off x="777240" y="4572000"/>
            <a:ext cx="5029200" cy="457200"/>
          </a:xfrm>
          <a:prstGeom prst="rect">
            <a:avLst/>
          </a:prstGeom>
          <a:noFill/>
        </p:spPr>
        <p:txBody>
          <a:bodyPr wrap="square" lIns="0" rIns="0" tIns="0" bIns="0">
            <a:spAutoFit/>
          </a:bodyPr>
          <a:lstStyle/>
          <a:p>
            <a:pPr algn="l"/>
            <a:r>
              <a:rPr sz="1200" b="0">
                <a:solidFill>
                  <a:srgbClr val="5A749A"/>
                </a:solidFill>
                <a:latin typeface="Helvetica Neue"/>
              </a:rPr>
              <a:t>— No tension matrix.</a:t>
            </a:r>
          </a:p>
        </p:txBody>
      </p:sp>
      <p:sp>
        <p:nvSpPr>
          <p:cNvPr id="14" name="TextBox 13"/>
          <p:cNvSpPr txBox="1"/>
          <p:nvPr/>
        </p:nvSpPr>
        <p:spPr>
          <a:xfrm>
            <a:off x="777240" y="4846320"/>
            <a:ext cx="5029200" cy="457200"/>
          </a:xfrm>
          <a:prstGeom prst="rect">
            <a:avLst/>
          </a:prstGeom>
          <a:noFill/>
        </p:spPr>
        <p:txBody>
          <a:bodyPr wrap="square" lIns="0" rIns="0" tIns="0" bIns="0">
            <a:spAutoFit/>
          </a:bodyPr>
          <a:lstStyle/>
          <a:p>
            <a:pPr algn="l"/>
            <a:r>
              <a:rPr sz="1200" b="0">
                <a:solidFill>
                  <a:srgbClr val="5A749A"/>
                </a:solidFill>
                <a:latin typeface="Helvetica Neue"/>
              </a:rPr>
              <a:t>— No diversification check.</a:t>
            </a:r>
          </a:p>
        </p:txBody>
      </p:sp>
      <p:sp>
        <p:nvSpPr>
          <p:cNvPr id="15" name="TextBox 14"/>
          <p:cNvSpPr txBox="1"/>
          <p:nvPr/>
        </p:nvSpPr>
        <p:spPr>
          <a:xfrm>
            <a:off x="777240" y="5120640"/>
            <a:ext cx="5029200" cy="457200"/>
          </a:xfrm>
          <a:prstGeom prst="rect">
            <a:avLst/>
          </a:prstGeom>
          <a:noFill/>
        </p:spPr>
        <p:txBody>
          <a:bodyPr wrap="square" lIns="0" rIns="0" tIns="0" bIns="0">
            <a:spAutoFit/>
          </a:bodyPr>
          <a:lstStyle/>
          <a:p>
            <a:pPr algn="l"/>
            <a:r>
              <a:rPr sz="1200" b="0">
                <a:solidFill>
                  <a:srgbClr val="5A749A"/>
                </a:solidFill>
                <a:latin typeface="Helvetica Neue"/>
              </a:rPr>
              <a:t>— No concentration-risk veto.</a:t>
            </a:r>
          </a:p>
        </p:txBody>
      </p:sp>
      <p:sp>
        <p:nvSpPr>
          <p:cNvPr id="16" name="TextBox 15"/>
          <p:cNvSpPr txBox="1"/>
          <p:nvPr/>
        </p:nvSpPr>
        <p:spPr>
          <a:xfrm>
            <a:off x="777240" y="5440680"/>
            <a:ext cx="5029200" cy="274320"/>
          </a:xfrm>
          <a:prstGeom prst="rect">
            <a:avLst/>
          </a:prstGeom>
          <a:noFill/>
        </p:spPr>
        <p:txBody>
          <a:bodyPr wrap="square" lIns="0" rIns="0" tIns="0" bIns="0">
            <a:spAutoFit/>
          </a:bodyPr>
          <a:lstStyle/>
          <a:p>
            <a:pPr algn="l"/>
            <a:r>
              <a:rPr sz="1200" b="1">
                <a:solidFill>
                  <a:srgbClr val="EF4444"/>
                </a:solidFill>
                <a:latin typeface="Helvetica Neue"/>
              </a:rPr>
              <a:t>— Confidence: "trust me"</a:t>
            </a:r>
          </a:p>
        </p:txBody>
      </p:sp>
      <p:sp>
        <p:nvSpPr>
          <p:cNvPr id="17" name="Rounded Rectangle 16"/>
          <p:cNvSpPr/>
          <p:nvPr/>
        </p:nvSpPr>
        <p:spPr>
          <a:xfrm>
            <a:off x="6400800" y="2331720"/>
            <a:ext cx="5303520" cy="3474720"/>
          </a:xfrm>
          <a:prstGeom prst="roundRect">
            <a:avLst>
              <a:gd name="adj" fmla="val 5000"/>
            </a:avLst>
          </a:prstGeom>
          <a:solidFill>
            <a:srgbClr val="1A2236"/>
          </a:solidFill>
          <a:ln w="1270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331720"/>
            <a:ext cx="73152" cy="3474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3408" y="2560320"/>
            <a:ext cx="2651760" cy="365760"/>
          </a:xfrm>
          <a:prstGeom prst="rect">
            <a:avLst/>
          </a:prstGeom>
          <a:noFill/>
        </p:spPr>
        <p:txBody>
          <a:bodyPr wrap="square" lIns="0" rIns="0" tIns="0" bIns="0">
            <a:spAutoFit/>
          </a:bodyPr>
          <a:lstStyle/>
          <a:p>
            <a:pPr algn="l"/>
            <a:r>
              <a:rPr sz="1400" b="1">
                <a:solidFill>
                  <a:srgbClr val="E9F4FF"/>
                </a:solidFill>
                <a:latin typeface="Helvetica Neue"/>
              </a:rPr>
              <a:t>Microcrystalline Cellulose</a:t>
            </a:r>
          </a:p>
        </p:txBody>
      </p:sp>
      <p:sp>
        <p:nvSpPr>
          <p:cNvPr id="20" name="Rounded Rectangle 19"/>
          <p:cNvSpPr/>
          <p:nvPr/>
        </p:nvSpPr>
        <p:spPr>
          <a:xfrm>
            <a:off x="9144000" y="2532888"/>
            <a:ext cx="1965960" cy="329184"/>
          </a:xfrm>
          <a:prstGeom prst="roundRect">
            <a:avLst>
              <a:gd name="adj" fmla="val 35000"/>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rIns="137160" tIns="0" bIns="0"/>
          <a:lstStyle/>
          <a:p>
            <a:pPr algn="ctr"/>
            <a:r>
              <a:rPr sz="1000" b="1">
                <a:solidFill>
                  <a:srgbClr val="F59E0B"/>
                </a:solidFill>
                <a:latin typeface="Helvetica Neue"/>
              </a:rPr>
              <a:t>review_required</a:t>
            </a:r>
          </a:p>
        </p:txBody>
      </p:sp>
      <p:sp>
        <p:nvSpPr>
          <p:cNvPr id="21" name="Rounded Rectangle 20"/>
          <p:cNvSpPr/>
          <p:nvPr/>
        </p:nvSpPr>
        <p:spPr>
          <a:xfrm>
            <a:off x="10789920" y="2532888"/>
            <a:ext cx="859536" cy="329184"/>
          </a:xfrm>
          <a:prstGeom prst="roundRect">
            <a:avLst>
              <a:gd name="adj" fmla="val 35000"/>
            </a:avLst>
          </a:prstGeom>
          <a:solidFill>
            <a:srgbClr val="111827"/>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lIns="137160" rIns="137160" tIns="0" bIns="0"/>
          <a:lstStyle/>
          <a:p>
            <a:pPr algn="ctr"/>
            <a:r>
              <a:rPr sz="1000" b="1">
                <a:solidFill>
                  <a:srgbClr val="00D4AA"/>
                </a:solidFill>
                <a:latin typeface="Helvetica Neue"/>
              </a:rPr>
              <a:t>0.82</a:t>
            </a:r>
          </a:p>
        </p:txBody>
      </p:sp>
      <p:sp>
        <p:nvSpPr>
          <p:cNvPr id="22" name="TextBox 21"/>
          <p:cNvSpPr txBox="1"/>
          <p:nvPr/>
        </p:nvSpPr>
        <p:spPr>
          <a:xfrm>
            <a:off x="6693408" y="2898648"/>
            <a:ext cx="4846320" cy="320040"/>
          </a:xfrm>
          <a:prstGeom prst="rect">
            <a:avLst/>
          </a:prstGeom>
          <a:noFill/>
        </p:spPr>
        <p:txBody>
          <a:bodyPr wrap="square" lIns="0" rIns="0" tIns="0" bIns="0">
            <a:spAutoFit/>
          </a:bodyPr>
          <a:lstStyle/>
          <a:p>
            <a:pPr algn="l"/>
            <a:r>
              <a:rPr sz="1100" b="0">
                <a:solidFill>
                  <a:srgbClr val="00D4AA"/>
                </a:solidFill>
                <a:latin typeface="Helvetica Neue"/>
              </a:rPr>
              <a:t>→ Colorcon  (primary) + 1 qualified backup</a:t>
            </a:r>
          </a:p>
        </p:txBody>
      </p:sp>
      <p:sp>
        <p:nvSpPr>
          <p:cNvPr id="23" name="Rounded Rectangle 22"/>
          <p:cNvSpPr/>
          <p:nvPr/>
        </p:nvSpPr>
        <p:spPr>
          <a:xfrm>
            <a:off x="6693408" y="3246120"/>
            <a:ext cx="4846320" cy="685800"/>
          </a:xfrm>
          <a:prstGeom prst="roundRect">
            <a:avLst>
              <a:gd name="adj" fmla="val 15000"/>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3310128"/>
            <a:ext cx="4572000" cy="274320"/>
          </a:xfrm>
          <a:prstGeom prst="rect">
            <a:avLst/>
          </a:prstGeom>
          <a:noFill/>
        </p:spPr>
        <p:txBody>
          <a:bodyPr wrap="square" lIns="0" rIns="0" tIns="0" bIns="0">
            <a:spAutoFit/>
          </a:bodyPr>
          <a:lstStyle/>
          <a:p>
            <a:pPr algn="l"/>
            <a:r>
              <a:rPr sz="1000" b="1">
                <a:solidFill>
                  <a:srgbClr val="F59E0B"/>
                </a:solidFill>
                <a:latin typeface="Helvetica Neue"/>
              </a:rPr>
              <a:t>⚙ Concentration-risk veto</a:t>
            </a:r>
          </a:p>
        </p:txBody>
      </p:sp>
      <p:sp>
        <p:nvSpPr>
          <p:cNvPr id="25" name="TextBox 24"/>
          <p:cNvSpPr txBox="1"/>
          <p:nvPr/>
        </p:nvSpPr>
        <p:spPr>
          <a:xfrm>
            <a:off x="6830568" y="3538728"/>
            <a:ext cx="4572000" cy="411480"/>
          </a:xfrm>
          <a:prstGeom prst="rect">
            <a:avLst/>
          </a:prstGeom>
          <a:noFill/>
        </p:spPr>
        <p:txBody>
          <a:bodyPr wrap="square" lIns="0" rIns="0" tIns="0" bIns="0">
            <a:spAutoFit/>
          </a:bodyPr>
          <a:lstStyle/>
          <a:p>
            <a:pPr algn="l"/>
            <a:r>
              <a:rPr sz="900" b="0">
                <a:solidFill>
                  <a:srgbClr val="E9F4FF"/>
                </a:solidFill>
                <a:latin typeface="Helvetica Neue"/>
              </a:rPr>
              <a:t>Network has 2 global suppliers — full consolidation would create single-source risk. Keep a qualified backup.</a:t>
            </a:r>
          </a:p>
        </p:txBody>
      </p:sp>
      <p:sp>
        <p:nvSpPr>
          <p:cNvPr id="26" name="TextBox 25"/>
          <p:cNvSpPr txBox="1"/>
          <p:nvPr/>
        </p:nvSpPr>
        <p:spPr>
          <a:xfrm>
            <a:off x="6693408" y="4069080"/>
            <a:ext cx="4846320" cy="274320"/>
          </a:xfrm>
          <a:prstGeom prst="rect">
            <a:avLst/>
          </a:prstGeom>
          <a:noFill/>
        </p:spPr>
        <p:txBody>
          <a:bodyPr wrap="square" lIns="0" rIns="0" tIns="0" bIns="0">
            <a:spAutoFit/>
          </a:bodyPr>
          <a:lstStyle/>
          <a:p>
            <a:pPr algn="l"/>
            <a:r>
              <a:rPr sz="900" b="1">
                <a:solidFill>
                  <a:srgbClr val="00D4AA"/>
                </a:solidFill>
                <a:latin typeface="Helvetica Neue"/>
              </a:rPr>
              <a:t>PRIORITIZATION FRAMEWORK</a:t>
            </a:r>
          </a:p>
        </p:txBody>
      </p:sp>
      <p:sp>
        <p:nvSpPr>
          <p:cNvPr id="27" name="TextBox 26"/>
          <p:cNvSpPr txBox="1"/>
          <p:nvPr/>
        </p:nvSpPr>
        <p:spPr>
          <a:xfrm>
            <a:off x="6693408" y="4361688"/>
            <a:ext cx="1920240" cy="228600"/>
          </a:xfrm>
          <a:prstGeom prst="rect">
            <a:avLst/>
          </a:prstGeom>
          <a:noFill/>
        </p:spPr>
        <p:txBody>
          <a:bodyPr wrap="square" lIns="0" rIns="0" tIns="0" bIns="0">
            <a:spAutoFit/>
          </a:bodyPr>
          <a:lstStyle/>
          <a:p>
            <a:pPr algn="l"/>
            <a:r>
              <a:rPr sz="900" b="0">
                <a:solidFill>
                  <a:srgbClr val="8BA3C7"/>
                </a:solidFill>
                <a:latin typeface="Helvetica Neue"/>
              </a:rPr>
              <a:t>Consolidation</a:t>
            </a:r>
          </a:p>
        </p:txBody>
      </p:sp>
      <p:sp>
        <p:nvSpPr>
          <p:cNvPr id="28" name="Rectangle 27"/>
          <p:cNvSpPr/>
          <p:nvPr/>
        </p:nvSpPr>
        <p:spPr>
          <a:xfrm>
            <a:off x="8613648" y="4434840"/>
            <a:ext cx="2377439" cy="73152"/>
          </a:xfrm>
          <a:prstGeom prst="rect">
            <a:avLst/>
          </a:prstGeom>
          <a:solidFill>
            <a:srgbClr val="22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13648" y="4434840"/>
            <a:ext cx="1664207"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36807" y="4361688"/>
            <a:ext cx="457200" cy="228600"/>
          </a:xfrm>
          <a:prstGeom prst="rect">
            <a:avLst/>
          </a:prstGeom>
          <a:noFill/>
        </p:spPr>
        <p:txBody>
          <a:bodyPr wrap="square" lIns="0" rIns="0" tIns="0" bIns="0">
            <a:spAutoFit/>
          </a:bodyPr>
          <a:lstStyle/>
          <a:p>
            <a:pPr algn="l"/>
            <a:r>
              <a:rPr sz="900" b="0">
                <a:solidFill>
                  <a:srgbClr val="E9F4FF"/>
                </a:solidFill>
                <a:latin typeface="Menlo"/>
              </a:rPr>
              <a:t>0.70</a:t>
            </a:r>
          </a:p>
        </p:txBody>
      </p:sp>
      <p:sp>
        <p:nvSpPr>
          <p:cNvPr id="31" name="TextBox 30"/>
          <p:cNvSpPr txBox="1"/>
          <p:nvPr/>
        </p:nvSpPr>
        <p:spPr>
          <a:xfrm>
            <a:off x="6693408" y="4636008"/>
            <a:ext cx="1920240" cy="228600"/>
          </a:xfrm>
          <a:prstGeom prst="rect">
            <a:avLst/>
          </a:prstGeom>
          <a:noFill/>
        </p:spPr>
        <p:txBody>
          <a:bodyPr wrap="square" lIns="0" rIns="0" tIns="0" bIns="0">
            <a:spAutoFit/>
          </a:bodyPr>
          <a:lstStyle/>
          <a:p>
            <a:pPr algn="l"/>
            <a:r>
              <a:rPr sz="900" b="0">
                <a:solidFill>
                  <a:srgbClr val="8BA3C7"/>
                </a:solidFill>
                <a:latin typeface="Helvetica Neue"/>
              </a:rPr>
              <a:t>Evidence</a:t>
            </a:r>
          </a:p>
        </p:txBody>
      </p:sp>
      <p:sp>
        <p:nvSpPr>
          <p:cNvPr id="32" name="Rectangle 31"/>
          <p:cNvSpPr/>
          <p:nvPr/>
        </p:nvSpPr>
        <p:spPr>
          <a:xfrm>
            <a:off x="8613648" y="4709160"/>
            <a:ext cx="2377439" cy="73152"/>
          </a:xfrm>
          <a:prstGeom prst="rect">
            <a:avLst/>
          </a:prstGeom>
          <a:solidFill>
            <a:srgbClr val="22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3648" y="4709160"/>
            <a:ext cx="2377439"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36807" y="4636008"/>
            <a:ext cx="457200" cy="228600"/>
          </a:xfrm>
          <a:prstGeom prst="rect">
            <a:avLst/>
          </a:prstGeom>
          <a:noFill/>
        </p:spPr>
        <p:txBody>
          <a:bodyPr wrap="square" lIns="0" rIns="0" tIns="0" bIns="0">
            <a:spAutoFit/>
          </a:bodyPr>
          <a:lstStyle/>
          <a:p>
            <a:pPr algn="l"/>
            <a:r>
              <a:rPr sz="900" b="0">
                <a:solidFill>
                  <a:srgbClr val="E9F4FF"/>
                </a:solidFill>
                <a:latin typeface="Menlo"/>
              </a:rPr>
              <a:t>1.00</a:t>
            </a:r>
          </a:p>
        </p:txBody>
      </p:sp>
      <p:sp>
        <p:nvSpPr>
          <p:cNvPr id="35" name="TextBox 34"/>
          <p:cNvSpPr txBox="1"/>
          <p:nvPr/>
        </p:nvSpPr>
        <p:spPr>
          <a:xfrm>
            <a:off x="6693408" y="4910328"/>
            <a:ext cx="1920240" cy="228600"/>
          </a:xfrm>
          <a:prstGeom prst="rect">
            <a:avLst/>
          </a:prstGeom>
          <a:noFill/>
        </p:spPr>
        <p:txBody>
          <a:bodyPr wrap="square" lIns="0" rIns="0" tIns="0" bIns="0">
            <a:spAutoFit/>
          </a:bodyPr>
          <a:lstStyle/>
          <a:p>
            <a:pPr algn="l"/>
            <a:r>
              <a:rPr sz="900" b="0">
                <a:solidFill>
                  <a:srgbClr val="8BA3C7"/>
                </a:solidFill>
                <a:latin typeface="Helvetica Neue"/>
              </a:rPr>
              <a:t>Compliance</a:t>
            </a:r>
          </a:p>
        </p:txBody>
      </p:sp>
      <p:sp>
        <p:nvSpPr>
          <p:cNvPr id="36" name="Rectangle 35"/>
          <p:cNvSpPr/>
          <p:nvPr/>
        </p:nvSpPr>
        <p:spPr>
          <a:xfrm>
            <a:off x="8613648" y="4983480"/>
            <a:ext cx="2377439" cy="73152"/>
          </a:xfrm>
          <a:prstGeom prst="rect">
            <a:avLst/>
          </a:prstGeom>
          <a:solidFill>
            <a:srgbClr val="22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13648" y="4983480"/>
            <a:ext cx="2377439"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036807" y="4910328"/>
            <a:ext cx="457200" cy="228600"/>
          </a:xfrm>
          <a:prstGeom prst="rect">
            <a:avLst/>
          </a:prstGeom>
          <a:noFill/>
        </p:spPr>
        <p:txBody>
          <a:bodyPr wrap="square" lIns="0" rIns="0" tIns="0" bIns="0">
            <a:spAutoFit/>
          </a:bodyPr>
          <a:lstStyle/>
          <a:p>
            <a:pPr algn="l"/>
            <a:r>
              <a:rPr sz="900" b="0">
                <a:solidFill>
                  <a:srgbClr val="E9F4FF"/>
                </a:solidFill>
                <a:latin typeface="Menlo"/>
              </a:rPr>
              <a:t>1.00</a:t>
            </a:r>
          </a:p>
        </p:txBody>
      </p:sp>
      <p:sp>
        <p:nvSpPr>
          <p:cNvPr id="39" name="TextBox 38"/>
          <p:cNvSpPr txBox="1"/>
          <p:nvPr/>
        </p:nvSpPr>
        <p:spPr>
          <a:xfrm>
            <a:off x="6693408" y="5184648"/>
            <a:ext cx="1920240" cy="228600"/>
          </a:xfrm>
          <a:prstGeom prst="rect">
            <a:avLst/>
          </a:prstGeom>
          <a:noFill/>
        </p:spPr>
        <p:txBody>
          <a:bodyPr wrap="square" lIns="0" rIns="0" tIns="0" bIns="0">
            <a:spAutoFit/>
          </a:bodyPr>
          <a:lstStyle/>
          <a:p>
            <a:pPr algn="l"/>
            <a:r>
              <a:rPr sz="900" b="0">
                <a:solidFill>
                  <a:srgbClr val="8BA3C7"/>
                </a:solidFill>
                <a:latin typeface="Helvetica Neue"/>
              </a:rPr>
              <a:t>Diversification</a:t>
            </a:r>
          </a:p>
        </p:txBody>
      </p:sp>
      <p:sp>
        <p:nvSpPr>
          <p:cNvPr id="40" name="Rectangle 39"/>
          <p:cNvSpPr/>
          <p:nvPr/>
        </p:nvSpPr>
        <p:spPr>
          <a:xfrm>
            <a:off x="8613648" y="5257800"/>
            <a:ext cx="2377439" cy="73152"/>
          </a:xfrm>
          <a:prstGeom prst="rect">
            <a:avLst/>
          </a:prstGeom>
          <a:solidFill>
            <a:srgbClr val="22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13648" y="5257800"/>
            <a:ext cx="594359"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036807" y="5184648"/>
            <a:ext cx="457200" cy="228600"/>
          </a:xfrm>
          <a:prstGeom prst="rect">
            <a:avLst/>
          </a:prstGeom>
          <a:noFill/>
        </p:spPr>
        <p:txBody>
          <a:bodyPr wrap="square" lIns="0" rIns="0" tIns="0" bIns="0">
            <a:spAutoFit/>
          </a:bodyPr>
          <a:lstStyle/>
          <a:p>
            <a:pPr algn="l"/>
            <a:r>
              <a:rPr sz="900" b="0">
                <a:solidFill>
                  <a:srgbClr val="E9F4FF"/>
                </a:solidFill>
                <a:latin typeface="Menlo"/>
              </a:rPr>
              <a:t>0.25</a:t>
            </a:r>
          </a:p>
        </p:txBody>
      </p:sp>
      <p:sp>
        <p:nvSpPr>
          <p:cNvPr id="43" name="TextBox 42"/>
          <p:cNvSpPr txBox="1"/>
          <p:nvPr/>
        </p:nvSpPr>
        <p:spPr>
          <a:xfrm>
            <a:off x="6693408" y="5458968"/>
            <a:ext cx="1920240" cy="228600"/>
          </a:xfrm>
          <a:prstGeom prst="rect">
            <a:avLst/>
          </a:prstGeom>
          <a:noFill/>
        </p:spPr>
        <p:txBody>
          <a:bodyPr wrap="square" lIns="0" rIns="0" tIns="0" bIns="0">
            <a:spAutoFit/>
          </a:bodyPr>
          <a:lstStyle/>
          <a:p>
            <a:pPr algn="l"/>
            <a:r>
              <a:rPr sz="900" b="0">
                <a:solidFill>
                  <a:srgbClr val="8BA3C7"/>
                </a:solidFill>
                <a:latin typeface="Helvetica Neue"/>
              </a:rPr>
              <a:t>Switching</a:t>
            </a:r>
          </a:p>
        </p:txBody>
      </p:sp>
      <p:sp>
        <p:nvSpPr>
          <p:cNvPr id="44" name="Rectangle 43"/>
          <p:cNvSpPr/>
          <p:nvPr/>
        </p:nvSpPr>
        <p:spPr>
          <a:xfrm>
            <a:off x="8613648" y="5532120"/>
            <a:ext cx="2377439" cy="73152"/>
          </a:xfrm>
          <a:prstGeom prst="rect">
            <a:avLst/>
          </a:prstGeom>
          <a:solidFill>
            <a:srgbClr val="22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3648" y="5532120"/>
            <a:ext cx="235366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036807" y="5458968"/>
            <a:ext cx="457200" cy="228600"/>
          </a:xfrm>
          <a:prstGeom prst="rect">
            <a:avLst/>
          </a:prstGeom>
          <a:noFill/>
        </p:spPr>
        <p:txBody>
          <a:bodyPr wrap="square" lIns="0" rIns="0" tIns="0" bIns="0">
            <a:spAutoFit/>
          </a:bodyPr>
          <a:lstStyle/>
          <a:p>
            <a:pPr algn="l"/>
            <a:r>
              <a:rPr sz="900" b="0">
                <a:solidFill>
                  <a:srgbClr val="E9F4FF"/>
                </a:solidFill>
                <a:latin typeface="Menlo"/>
              </a:rPr>
              <a:t>0.99</a:t>
            </a:r>
          </a:p>
        </p:txBody>
      </p:sp>
      <p:sp>
        <p:nvSpPr>
          <p:cNvPr id="47" name="TextBox 46"/>
          <p:cNvSpPr txBox="1"/>
          <p:nvPr/>
        </p:nvSpPr>
        <p:spPr>
          <a:xfrm>
            <a:off x="548640" y="5989320"/>
            <a:ext cx="11155680" cy="457200"/>
          </a:xfrm>
          <a:prstGeom prst="rect">
            <a:avLst/>
          </a:prstGeom>
          <a:noFill/>
        </p:spPr>
        <p:txBody>
          <a:bodyPr wrap="square" lIns="0" rIns="0" tIns="0" bIns="0">
            <a:spAutoFit/>
          </a:bodyPr>
          <a:lstStyle/>
          <a:p>
            <a:pPr algn="ctr"/>
            <a:r>
              <a:rPr sz="1400" b="1">
                <a:solidFill>
                  <a:srgbClr val="00D4AA"/>
                </a:solidFill>
                <a:latin typeface="Helvetica Neue"/>
              </a:rPr>
              <a:t>Same engine, different answer — reached by math you can defend to a CFO.</a:t>
            </a:r>
          </a:p>
        </p:txBody>
      </p:sp>
      <p:sp>
        <p:nvSpPr>
          <p:cNvPr id="48" name="TextBox 47"/>
          <p:cNvSpPr txBox="1"/>
          <p:nvPr/>
        </p:nvSpPr>
        <p:spPr>
          <a:xfrm>
            <a:off x="548640" y="6400800"/>
            <a:ext cx="5486400" cy="274320"/>
          </a:xfrm>
          <a:prstGeom prst="rect">
            <a:avLst/>
          </a:prstGeom>
          <a:noFill/>
        </p:spPr>
        <p:txBody>
          <a:bodyPr wrap="square" lIns="0" rIns="0" tIns="0" bIns="0">
            <a:spAutoFit/>
          </a:bodyPr>
          <a:lstStyle/>
          <a:p>
            <a:pPr algn="l"/>
            <a:r>
              <a:rPr sz="900" b="0">
                <a:solidFill>
                  <a:srgbClr val="5A749A"/>
                </a:solidFill>
                <a:latin typeface="Helvetica Neue"/>
              </a:rPr>
              <a:t>AgnesTheSecond  ·  TUM.ai × Spherecast Makeathon 2026</a:t>
            </a:r>
          </a:p>
        </p:txBody>
      </p:sp>
      <p:sp>
        <p:nvSpPr>
          <p:cNvPr id="49" name="TextBox 48"/>
          <p:cNvSpPr txBox="1"/>
          <p:nvPr/>
        </p:nvSpPr>
        <p:spPr>
          <a:xfrm>
            <a:off x="10058400" y="6400800"/>
            <a:ext cx="1828800" cy="274320"/>
          </a:xfrm>
          <a:prstGeom prst="rect">
            <a:avLst/>
          </a:prstGeom>
          <a:noFill/>
        </p:spPr>
        <p:txBody>
          <a:bodyPr wrap="square" lIns="0" rIns="0" tIns="0" bIns="0">
            <a:spAutoFit/>
          </a:bodyPr>
          <a:lstStyle/>
          <a:p>
            <a:pPr algn="r"/>
            <a:r>
              <a:rPr sz="900" b="0">
                <a:solidFill>
                  <a:srgbClr val="5A749A"/>
                </a:solidFill>
                <a:latin typeface="Helvetica Neue"/>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lIns="0" rIns="0" tIns="0" bIns="0">
            <a:spAutoFit/>
          </a:bodyPr>
          <a:lstStyle/>
          <a:p>
            <a:pPr algn="l"/>
            <a:r>
              <a:rPr sz="1100" b="1">
                <a:solidFill>
                  <a:srgbClr val="00D4AA"/>
                </a:solidFill>
                <a:latin typeface="Helvetica Neue"/>
              </a:rPr>
              <a:t>THE TEAM</a:t>
            </a:r>
          </a:p>
        </p:txBody>
      </p:sp>
      <p:sp>
        <p:nvSpPr>
          <p:cNvPr id="4" name="TextBox 3"/>
          <p:cNvSpPr txBox="1"/>
          <p:nvPr/>
        </p:nvSpPr>
        <p:spPr>
          <a:xfrm>
            <a:off x="548640" y="777240"/>
            <a:ext cx="10972800" cy="822960"/>
          </a:xfrm>
          <a:prstGeom prst="rect">
            <a:avLst/>
          </a:prstGeom>
          <a:noFill/>
        </p:spPr>
        <p:txBody>
          <a:bodyPr wrap="square" lIns="0" rIns="0" tIns="0" bIns="0">
            <a:spAutoFit/>
          </a:bodyPr>
          <a:lstStyle/>
          <a:p>
            <a:pPr algn="l"/>
            <a:r>
              <a:rPr sz="3200" b="1">
                <a:solidFill>
                  <a:srgbClr val="E9F4FF"/>
                </a:solidFill>
                <a:latin typeface="Helvetica Neue"/>
              </a:rPr>
              <a:t>Built by four people in a weekend.</a:t>
            </a:r>
          </a:p>
        </p:txBody>
      </p:sp>
      <p:sp>
        <p:nvSpPr>
          <p:cNvPr id="5" name="Rectangle 4"/>
          <p:cNvSpPr/>
          <p:nvPr/>
        </p:nvSpPr>
        <p:spPr>
          <a:xfrm>
            <a:off x="548640" y="1645920"/>
            <a:ext cx="457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011680"/>
            <a:ext cx="5486400" cy="1417320"/>
          </a:xfrm>
          <a:prstGeom prst="roundRect">
            <a:avLst>
              <a:gd name="adj" fmla="val 6000"/>
            </a:avLst>
          </a:prstGeom>
          <a:solidFill>
            <a:srgbClr val="111827"/>
          </a:solidFill>
          <a:ln w="1270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58568"/>
            <a:ext cx="868680" cy="868680"/>
          </a:xfrm>
          <a:prstGeom prst="ellipse">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68880"/>
            <a:ext cx="868680" cy="365760"/>
          </a:xfrm>
          <a:prstGeom prst="rect">
            <a:avLst/>
          </a:prstGeom>
          <a:noFill/>
        </p:spPr>
        <p:txBody>
          <a:bodyPr wrap="square" lIns="0" rIns="0" tIns="0" bIns="0">
            <a:spAutoFit/>
          </a:bodyPr>
          <a:lstStyle/>
          <a:p>
            <a:pPr algn="ctr"/>
            <a:r>
              <a:rPr sz="2200" b="1">
                <a:solidFill>
                  <a:srgbClr val="00D4AA"/>
                </a:solidFill>
                <a:latin typeface="Helvetica Neue"/>
              </a:rPr>
              <a:t>TE</a:t>
            </a:r>
          </a:p>
        </p:txBody>
      </p:sp>
      <p:sp>
        <p:nvSpPr>
          <p:cNvPr id="9" name="TextBox 8"/>
          <p:cNvSpPr txBox="1"/>
          <p:nvPr/>
        </p:nvSpPr>
        <p:spPr>
          <a:xfrm>
            <a:off x="1828800" y="2258568"/>
            <a:ext cx="4023360" cy="411480"/>
          </a:xfrm>
          <a:prstGeom prst="rect">
            <a:avLst/>
          </a:prstGeom>
          <a:noFill/>
        </p:spPr>
        <p:txBody>
          <a:bodyPr wrap="square" lIns="0" rIns="0" tIns="0" bIns="0">
            <a:spAutoFit/>
          </a:bodyPr>
          <a:lstStyle/>
          <a:p>
            <a:pPr algn="l"/>
            <a:r>
              <a:rPr sz="1700" b="1">
                <a:solidFill>
                  <a:srgbClr val="E9F4FF"/>
                </a:solidFill>
                <a:latin typeface="Helvetica Neue"/>
              </a:rPr>
              <a:t>[ TEAM MEMBER 1 ]</a:t>
            </a:r>
          </a:p>
        </p:txBody>
      </p:sp>
      <p:sp>
        <p:nvSpPr>
          <p:cNvPr id="10" name="TextBox 9"/>
          <p:cNvSpPr txBox="1"/>
          <p:nvPr/>
        </p:nvSpPr>
        <p:spPr>
          <a:xfrm>
            <a:off x="1828800" y="2651760"/>
            <a:ext cx="4023360" cy="365760"/>
          </a:xfrm>
          <a:prstGeom prst="rect">
            <a:avLst/>
          </a:prstGeom>
          <a:noFill/>
        </p:spPr>
        <p:txBody>
          <a:bodyPr wrap="square" lIns="0" rIns="0" tIns="0" bIns="0">
            <a:spAutoFit/>
          </a:bodyPr>
          <a:lstStyle/>
          <a:p>
            <a:pPr algn="l"/>
            <a:r>
              <a:rPr sz="1200" b="0">
                <a:solidFill>
                  <a:srgbClr val="00D4AA"/>
                </a:solidFill>
                <a:latin typeface="Helvetica Neue"/>
              </a:rPr>
              <a:t>Role · e.g. Backend / Engine</a:t>
            </a:r>
          </a:p>
        </p:txBody>
      </p:sp>
      <p:sp>
        <p:nvSpPr>
          <p:cNvPr id="11" name="TextBox 10"/>
          <p:cNvSpPr txBox="1"/>
          <p:nvPr/>
        </p:nvSpPr>
        <p:spPr>
          <a:xfrm>
            <a:off x="1828800" y="2944368"/>
            <a:ext cx="4023360" cy="365760"/>
          </a:xfrm>
          <a:prstGeom prst="rect">
            <a:avLst/>
          </a:prstGeom>
          <a:noFill/>
        </p:spPr>
        <p:txBody>
          <a:bodyPr wrap="square" lIns="0" rIns="0" tIns="0" bIns="0">
            <a:spAutoFit/>
          </a:bodyPr>
          <a:lstStyle/>
          <a:p>
            <a:pPr algn="l"/>
            <a:r>
              <a:rPr sz="1100" b="0">
                <a:solidFill>
                  <a:srgbClr val="8BA3C7"/>
                </a:solidFill>
                <a:latin typeface="Helvetica Neue"/>
              </a:rPr>
              <a:t>one-line tagline</a:t>
            </a:r>
          </a:p>
        </p:txBody>
      </p:sp>
      <p:sp>
        <p:nvSpPr>
          <p:cNvPr id="12" name="Rounded Rectangle 11"/>
          <p:cNvSpPr/>
          <p:nvPr/>
        </p:nvSpPr>
        <p:spPr>
          <a:xfrm>
            <a:off x="6309359" y="2011680"/>
            <a:ext cx="5486400" cy="1417320"/>
          </a:xfrm>
          <a:prstGeom prst="roundRect">
            <a:avLst>
              <a:gd name="adj" fmla="val 6000"/>
            </a:avLst>
          </a:prstGeom>
          <a:solidFill>
            <a:srgbClr val="111827"/>
          </a:solidFill>
          <a:ln w="1270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37959" y="2258568"/>
            <a:ext cx="868680" cy="868680"/>
          </a:xfrm>
          <a:prstGeom prst="ellipse">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2468880"/>
            <a:ext cx="868680" cy="365760"/>
          </a:xfrm>
          <a:prstGeom prst="rect">
            <a:avLst/>
          </a:prstGeom>
          <a:noFill/>
        </p:spPr>
        <p:txBody>
          <a:bodyPr wrap="square" lIns="0" rIns="0" tIns="0" bIns="0">
            <a:spAutoFit/>
          </a:bodyPr>
          <a:lstStyle/>
          <a:p>
            <a:pPr algn="ctr"/>
            <a:r>
              <a:rPr sz="2200" b="1">
                <a:solidFill>
                  <a:srgbClr val="00D4AA"/>
                </a:solidFill>
                <a:latin typeface="Helvetica Neue"/>
              </a:rPr>
              <a:t>TE</a:t>
            </a:r>
          </a:p>
        </p:txBody>
      </p:sp>
      <p:sp>
        <p:nvSpPr>
          <p:cNvPr id="15" name="TextBox 14"/>
          <p:cNvSpPr txBox="1"/>
          <p:nvPr/>
        </p:nvSpPr>
        <p:spPr>
          <a:xfrm>
            <a:off x="7589519" y="2258568"/>
            <a:ext cx="4023360" cy="411480"/>
          </a:xfrm>
          <a:prstGeom prst="rect">
            <a:avLst/>
          </a:prstGeom>
          <a:noFill/>
        </p:spPr>
        <p:txBody>
          <a:bodyPr wrap="square" lIns="0" rIns="0" tIns="0" bIns="0">
            <a:spAutoFit/>
          </a:bodyPr>
          <a:lstStyle/>
          <a:p>
            <a:pPr algn="l"/>
            <a:r>
              <a:rPr sz="1700" b="1">
                <a:solidFill>
                  <a:srgbClr val="E9F4FF"/>
                </a:solidFill>
                <a:latin typeface="Helvetica Neue"/>
              </a:rPr>
              <a:t>[ TEAM MEMBER 2 ]</a:t>
            </a:r>
          </a:p>
        </p:txBody>
      </p:sp>
      <p:sp>
        <p:nvSpPr>
          <p:cNvPr id="16" name="TextBox 15"/>
          <p:cNvSpPr txBox="1"/>
          <p:nvPr/>
        </p:nvSpPr>
        <p:spPr>
          <a:xfrm>
            <a:off x="7589519" y="2651760"/>
            <a:ext cx="4023360" cy="365760"/>
          </a:xfrm>
          <a:prstGeom prst="rect">
            <a:avLst/>
          </a:prstGeom>
          <a:noFill/>
        </p:spPr>
        <p:txBody>
          <a:bodyPr wrap="square" lIns="0" rIns="0" tIns="0" bIns="0">
            <a:spAutoFit/>
          </a:bodyPr>
          <a:lstStyle/>
          <a:p>
            <a:pPr algn="l"/>
            <a:r>
              <a:rPr sz="1200" b="0">
                <a:solidFill>
                  <a:srgbClr val="00D4AA"/>
                </a:solidFill>
                <a:latin typeface="Helvetica Neue"/>
              </a:rPr>
              <a:t>Role · e.g. Frontend / UX</a:t>
            </a:r>
          </a:p>
        </p:txBody>
      </p:sp>
      <p:sp>
        <p:nvSpPr>
          <p:cNvPr id="17" name="TextBox 16"/>
          <p:cNvSpPr txBox="1"/>
          <p:nvPr/>
        </p:nvSpPr>
        <p:spPr>
          <a:xfrm>
            <a:off x="7589519" y="2944368"/>
            <a:ext cx="4023360" cy="365760"/>
          </a:xfrm>
          <a:prstGeom prst="rect">
            <a:avLst/>
          </a:prstGeom>
          <a:noFill/>
        </p:spPr>
        <p:txBody>
          <a:bodyPr wrap="square" lIns="0" rIns="0" tIns="0" bIns="0">
            <a:spAutoFit/>
          </a:bodyPr>
          <a:lstStyle/>
          <a:p>
            <a:pPr algn="l"/>
            <a:r>
              <a:rPr sz="1100" b="0">
                <a:solidFill>
                  <a:srgbClr val="8BA3C7"/>
                </a:solidFill>
                <a:latin typeface="Helvetica Neue"/>
              </a:rPr>
              <a:t>one-line tagline</a:t>
            </a:r>
          </a:p>
        </p:txBody>
      </p:sp>
      <p:sp>
        <p:nvSpPr>
          <p:cNvPr id="18" name="Rounded Rectangle 17"/>
          <p:cNvSpPr/>
          <p:nvPr/>
        </p:nvSpPr>
        <p:spPr>
          <a:xfrm>
            <a:off x="548640" y="3611880"/>
            <a:ext cx="5486400" cy="1417320"/>
          </a:xfrm>
          <a:prstGeom prst="roundRect">
            <a:avLst>
              <a:gd name="adj" fmla="val 6000"/>
            </a:avLst>
          </a:prstGeom>
          <a:solidFill>
            <a:srgbClr val="111827"/>
          </a:solidFill>
          <a:ln w="1270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7240" y="3858768"/>
            <a:ext cx="868680" cy="868680"/>
          </a:xfrm>
          <a:prstGeom prst="ellipse">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069080"/>
            <a:ext cx="868680" cy="365760"/>
          </a:xfrm>
          <a:prstGeom prst="rect">
            <a:avLst/>
          </a:prstGeom>
          <a:noFill/>
        </p:spPr>
        <p:txBody>
          <a:bodyPr wrap="square" lIns="0" rIns="0" tIns="0" bIns="0">
            <a:spAutoFit/>
          </a:bodyPr>
          <a:lstStyle/>
          <a:p>
            <a:pPr algn="ctr"/>
            <a:r>
              <a:rPr sz="2200" b="1">
                <a:solidFill>
                  <a:srgbClr val="00D4AA"/>
                </a:solidFill>
                <a:latin typeface="Helvetica Neue"/>
              </a:rPr>
              <a:t>TE</a:t>
            </a:r>
          </a:p>
        </p:txBody>
      </p:sp>
      <p:sp>
        <p:nvSpPr>
          <p:cNvPr id="21" name="TextBox 20"/>
          <p:cNvSpPr txBox="1"/>
          <p:nvPr/>
        </p:nvSpPr>
        <p:spPr>
          <a:xfrm>
            <a:off x="1828800" y="3858768"/>
            <a:ext cx="4023360" cy="411480"/>
          </a:xfrm>
          <a:prstGeom prst="rect">
            <a:avLst/>
          </a:prstGeom>
          <a:noFill/>
        </p:spPr>
        <p:txBody>
          <a:bodyPr wrap="square" lIns="0" rIns="0" tIns="0" bIns="0">
            <a:spAutoFit/>
          </a:bodyPr>
          <a:lstStyle/>
          <a:p>
            <a:pPr algn="l"/>
            <a:r>
              <a:rPr sz="1700" b="1">
                <a:solidFill>
                  <a:srgbClr val="E9F4FF"/>
                </a:solidFill>
                <a:latin typeface="Helvetica Neue"/>
              </a:rPr>
              <a:t>[ TEAM MEMBER 3 ]</a:t>
            </a:r>
          </a:p>
        </p:txBody>
      </p:sp>
      <p:sp>
        <p:nvSpPr>
          <p:cNvPr id="22" name="TextBox 21"/>
          <p:cNvSpPr txBox="1"/>
          <p:nvPr/>
        </p:nvSpPr>
        <p:spPr>
          <a:xfrm>
            <a:off x="1828800" y="4251960"/>
            <a:ext cx="4023360" cy="365760"/>
          </a:xfrm>
          <a:prstGeom prst="rect">
            <a:avLst/>
          </a:prstGeom>
          <a:noFill/>
        </p:spPr>
        <p:txBody>
          <a:bodyPr wrap="square" lIns="0" rIns="0" tIns="0" bIns="0">
            <a:spAutoFit/>
          </a:bodyPr>
          <a:lstStyle/>
          <a:p>
            <a:pPr algn="l"/>
            <a:r>
              <a:rPr sz="1200" b="0">
                <a:solidFill>
                  <a:srgbClr val="00D4AA"/>
                </a:solidFill>
                <a:latin typeface="Helvetica Neue"/>
              </a:rPr>
              <a:t>Role · e.g. Data / Analytics</a:t>
            </a:r>
          </a:p>
        </p:txBody>
      </p:sp>
      <p:sp>
        <p:nvSpPr>
          <p:cNvPr id="23" name="TextBox 22"/>
          <p:cNvSpPr txBox="1"/>
          <p:nvPr/>
        </p:nvSpPr>
        <p:spPr>
          <a:xfrm>
            <a:off x="1828800" y="4544568"/>
            <a:ext cx="4023360" cy="365760"/>
          </a:xfrm>
          <a:prstGeom prst="rect">
            <a:avLst/>
          </a:prstGeom>
          <a:noFill/>
        </p:spPr>
        <p:txBody>
          <a:bodyPr wrap="square" lIns="0" rIns="0" tIns="0" bIns="0">
            <a:spAutoFit/>
          </a:bodyPr>
          <a:lstStyle/>
          <a:p>
            <a:pPr algn="l"/>
            <a:r>
              <a:rPr sz="1100" b="0">
                <a:solidFill>
                  <a:srgbClr val="8BA3C7"/>
                </a:solidFill>
                <a:latin typeface="Helvetica Neue"/>
              </a:rPr>
              <a:t>one-line tagline</a:t>
            </a:r>
          </a:p>
        </p:txBody>
      </p:sp>
      <p:sp>
        <p:nvSpPr>
          <p:cNvPr id="24" name="Rounded Rectangle 23"/>
          <p:cNvSpPr/>
          <p:nvPr/>
        </p:nvSpPr>
        <p:spPr>
          <a:xfrm>
            <a:off x="6309359" y="3611880"/>
            <a:ext cx="5486400" cy="1417320"/>
          </a:xfrm>
          <a:prstGeom prst="roundRect">
            <a:avLst>
              <a:gd name="adj" fmla="val 6000"/>
            </a:avLst>
          </a:prstGeom>
          <a:solidFill>
            <a:srgbClr val="111827"/>
          </a:solidFill>
          <a:ln w="12700">
            <a:solidFill>
              <a:srgbClr val="263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37959" y="3858768"/>
            <a:ext cx="868680" cy="868680"/>
          </a:xfrm>
          <a:prstGeom prst="ellipse">
            <a:avLst/>
          </a:prstGeom>
          <a:solidFill>
            <a:srgbClr val="1A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59" y="4069080"/>
            <a:ext cx="868680" cy="365760"/>
          </a:xfrm>
          <a:prstGeom prst="rect">
            <a:avLst/>
          </a:prstGeom>
          <a:noFill/>
        </p:spPr>
        <p:txBody>
          <a:bodyPr wrap="square" lIns="0" rIns="0" tIns="0" bIns="0">
            <a:spAutoFit/>
          </a:bodyPr>
          <a:lstStyle/>
          <a:p>
            <a:pPr algn="ctr"/>
            <a:r>
              <a:rPr sz="2200" b="1">
                <a:solidFill>
                  <a:srgbClr val="00D4AA"/>
                </a:solidFill>
                <a:latin typeface="Helvetica Neue"/>
              </a:rPr>
              <a:t>TE</a:t>
            </a:r>
          </a:p>
        </p:txBody>
      </p:sp>
      <p:sp>
        <p:nvSpPr>
          <p:cNvPr id="27" name="TextBox 26"/>
          <p:cNvSpPr txBox="1"/>
          <p:nvPr/>
        </p:nvSpPr>
        <p:spPr>
          <a:xfrm>
            <a:off x="7589519" y="3858768"/>
            <a:ext cx="4023360" cy="411480"/>
          </a:xfrm>
          <a:prstGeom prst="rect">
            <a:avLst/>
          </a:prstGeom>
          <a:noFill/>
        </p:spPr>
        <p:txBody>
          <a:bodyPr wrap="square" lIns="0" rIns="0" tIns="0" bIns="0">
            <a:spAutoFit/>
          </a:bodyPr>
          <a:lstStyle/>
          <a:p>
            <a:pPr algn="l"/>
            <a:r>
              <a:rPr sz="1700" b="1">
                <a:solidFill>
                  <a:srgbClr val="E9F4FF"/>
                </a:solidFill>
                <a:latin typeface="Helvetica Neue"/>
              </a:rPr>
              <a:t>[ TEAM MEMBER 4 ]</a:t>
            </a:r>
          </a:p>
        </p:txBody>
      </p:sp>
      <p:sp>
        <p:nvSpPr>
          <p:cNvPr id="28" name="TextBox 27"/>
          <p:cNvSpPr txBox="1"/>
          <p:nvPr/>
        </p:nvSpPr>
        <p:spPr>
          <a:xfrm>
            <a:off x="7589519" y="4251960"/>
            <a:ext cx="4023360" cy="365760"/>
          </a:xfrm>
          <a:prstGeom prst="rect">
            <a:avLst/>
          </a:prstGeom>
          <a:noFill/>
        </p:spPr>
        <p:txBody>
          <a:bodyPr wrap="square" lIns="0" rIns="0" tIns="0" bIns="0">
            <a:spAutoFit/>
          </a:bodyPr>
          <a:lstStyle/>
          <a:p>
            <a:pPr algn="l"/>
            <a:r>
              <a:rPr sz="1200" b="0">
                <a:solidFill>
                  <a:srgbClr val="00D4AA"/>
                </a:solidFill>
                <a:latin typeface="Helvetica Neue"/>
              </a:rPr>
              <a:t>Role · e.g. Product / Pitch</a:t>
            </a:r>
          </a:p>
        </p:txBody>
      </p:sp>
      <p:sp>
        <p:nvSpPr>
          <p:cNvPr id="29" name="TextBox 28"/>
          <p:cNvSpPr txBox="1"/>
          <p:nvPr/>
        </p:nvSpPr>
        <p:spPr>
          <a:xfrm>
            <a:off x="7589519" y="4544568"/>
            <a:ext cx="4023360" cy="365760"/>
          </a:xfrm>
          <a:prstGeom prst="rect">
            <a:avLst/>
          </a:prstGeom>
          <a:noFill/>
        </p:spPr>
        <p:txBody>
          <a:bodyPr wrap="square" lIns="0" rIns="0" tIns="0" bIns="0">
            <a:spAutoFit/>
          </a:bodyPr>
          <a:lstStyle/>
          <a:p>
            <a:pPr algn="l"/>
            <a:r>
              <a:rPr sz="1100" b="0">
                <a:solidFill>
                  <a:srgbClr val="8BA3C7"/>
                </a:solidFill>
                <a:latin typeface="Helvetica Neue"/>
              </a:rPr>
              <a:t>one-line tagline</a:t>
            </a:r>
          </a:p>
        </p:txBody>
      </p:sp>
      <p:sp>
        <p:nvSpPr>
          <p:cNvPr id="30" name="Rounded Rectangle 29"/>
          <p:cNvSpPr/>
          <p:nvPr/>
        </p:nvSpPr>
        <p:spPr>
          <a:xfrm>
            <a:off x="548640" y="5349240"/>
            <a:ext cx="11155680" cy="1051560"/>
          </a:xfrm>
          <a:prstGeom prst="roundRect">
            <a:avLst>
              <a:gd name="adj" fmla="val 10000"/>
            </a:avLst>
          </a:prstGeom>
          <a:solidFill>
            <a:srgbClr val="111827"/>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486400"/>
            <a:ext cx="10789920" cy="457200"/>
          </a:xfrm>
          <a:prstGeom prst="rect">
            <a:avLst/>
          </a:prstGeom>
          <a:noFill/>
        </p:spPr>
        <p:txBody>
          <a:bodyPr wrap="square" lIns="0" rIns="0" tIns="0" bIns="0">
            <a:spAutoFit/>
          </a:bodyPr>
          <a:lstStyle/>
          <a:p>
            <a:pPr algn="l"/>
            <a:r>
              <a:rPr sz="2200" b="1">
                <a:solidFill>
                  <a:srgbClr val="E9F4FF"/>
                </a:solidFill>
                <a:latin typeface="Helvetica Neue"/>
              </a:rPr>
              <a:t>Ready to pilot today.</a:t>
            </a:r>
          </a:p>
        </p:txBody>
      </p:sp>
      <p:sp>
        <p:nvSpPr>
          <p:cNvPr id="32" name="TextBox 31"/>
          <p:cNvSpPr txBox="1"/>
          <p:nvPr/>
        </p:nvSpPr>
        <p:spPr>
          <a:xfrm>
            <a:off x="777240" y="5943600"/>
            <a:ext cx="10789920" cy="457200"/>
          </a:xfrm>
          <a:prstGeom prst="rect">
            <a:avLst/>
          </a:prstGeom>
          <a:noFill/>
        </p:spPr>
        <p:txBody>
          <a:bodyPr wrap="square" lIns="0" rIns="0" tIns="0" bIns="0">
            <a:spAutoFit/>
          </a:bodyPr>
          <a:lstStyle/>
          <a:p>
            <a:pPr algn="l"/>
            <a:r>
              <a:rPr sz="1300" b="0">
                <a:solidFill>
                  <a:srgbClr val="00D4AA"/>
                </a:solidFill>
                <a:latin typeface="Helvetica Neue"/>
              </a:rPr>
              <a:t>Maximum leverage.   Minimum concentration risk.   Deterministic by design.</a:t>
            </a:r>
          </a:p>
        </p:txBody>
      </p:sp>
      <p:sp>
        <p:nvSpPr>
          <p:cNvPr id="33" name="TextBox 32"/>
          <p:cNvSpPr txBox="1"/>
          <p:nvPr/>
        </p:nvSpPr>
        <p:spPr>
          <a:xfrm>
            <a:off x="548640" y="6400800"/>
            <a:ext cx="5486400" cy="274320"/>
          </a:xfrm>
          <a:prstGeom prst="rect">
            <a:avLst/>
          </a:prstGeom>
          <a:noFill/>
        </p:spPr>
        <p:txBody>
          <a:bodyPr wrap="square" lIns="0" rIns="0" tIns="0" bIns="0">
            <a:spAutoFit/>
          </a:bodyPr>
          <a:lstStyle/>
          <a:p>
            <a:pPr algn="l"/>
            <a:r>
              <a:rPr sz="900" b="0">
                <a:solidFill>
                  <a:srgbClr val="5A749A"/>
                </a:solidFill>
                <a:latin typeface="Helvetica Neue"/>
              </a:rPr>
              <a:t>AgnesTheSecond  ·  TUM.ai × Spherecast Makeathon 2026</a:t>
            </a:r>
          </a:p>
        </p:txBody>
      </p:sp>
      <p:sp>
        <p:nvSpPr>
          <p:cNvPr id="34" name="TextBox 33"/>
          <p:cNvSpPr txBox="1"/>
          <p:nvPr/>
        </p:nvSpPr>
        <p:spPr>
          <a:xfrm>
            <a:off x="10058400" y="6400800"/>
            <a:ext cx="1828800" cy="274320"/>
          </a:xfrm>
          <a:prstGeom prst="rect">
            <a:avLst/>
          </a:prstGeom>
          <a:noFill/>
        </p:spPr>
        <p:txBody>
          <a:bodyPr wrap="square" lIns="0" rIns="0" tIns="0" bIns="0">
            <a:spAutoFit/>
          </a:bodyPr>
          <a:lstStyle/>
          <a:p>
            <a:pPr algn="r"/>
            <a:r>
              <a:rPr sz="900" b="0">
                <a:solidFill>
                  <a:srgbClr val="5A749A"/>
                </a:solidFill>
                <a:latin typeface="Helvetica Neue"/>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